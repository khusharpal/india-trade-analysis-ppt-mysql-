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5"/>
  </p:notesMasterIdLst>
  <p:sldIdLst>
    <p:sldId id="266" r:id="rId2"/>
    <p:sldId id="267" r:id="rId3"/>
    <p:sldId id="256" r:id="rId4"/>
    <p:sldId id="257" r:id="rId5"/>
    <p:sldId id="258" r:id="rId6"/>
    <p:sldId id="259" r:id="rId7"/>
    <p:sldId id="260" r:id="rId8"/>
    <p:sldId id="261" r:id="rId9"/>
    <p:sldId id="262" r:id="rId10"/>
    <p:sldId id="263" r:id="rId11"/>
    <p:sldId id="264" r:id="rId12"/>
    <p:sldId id="265" r:id="rId13"/>
    <p:sldId id="268" r:id="rId14"/>
  </p:sldIdLst>
  <p:sldSz cx="14630400" cy="8229600"/>
  <p:notesSz cx="8229600" cy="14630400"/>
  <p:embeddedFontLst>
    <p:embeddedFont>
      <p:font typeface="Calibri" panose="020F0502020204030204" pitchFamily="34" charset="0"/>
      <p:regular r:id="rId16"/>
      <p:bold r:id="rId17"/>
      <p:italic r:id="rId18"/>
      <p:boldItalic r:id="rId19"/>
    </p:embeddedFont>
    <p:embeddedFont>
      <p:font typeface="Corben" panose="020F0503020000020004" pitchFamily="34" charset="0"/>
      <p:regular r:id="rId20"/>
    </p:embeddedFont>
    <p:embeddedFont>
      <p:font typeface="Nobile" panose="020B0604020202020204" charset="0"/>
      <p:regular r:id="rId21"/>
    </p:embeddedFont>
    <p:embeddedFont>
      <p:font typeface="Poppins" panose="00000800000000000000" pitchFamily="2" charset="0"/>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67E9"/>
    <a:srgbClr val="F9F9FF"/>
    <a:srgbClr val="FFFFFF"/>
    <a:srgbClr val="F6D4A7"/>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1" d="100"/>
          <a:sy n="61" d="100"/>
        </p:scale>
        <p:origin x="39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66341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3.svg"/><Relationship Id="rId5" Type="http://schemas.openxmlformats.org/officeDocument/2006/relationships/image" Target="../media/image12.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4240557-E10E-4819-B95C-CDC49B09007B}"/>
              </a:ext>
            </a:extLst>
          </p:cNvPr>
          <p:cNvSpPr/>
          <p:nvPr/>
        </p:nvSpPr>
        <p:spPr>
          <a:xfrm>
            <a:off x="7918516" y="0"/>
            <a:ext cx="7143750" cy="8229600"/>
          </a:xfrm>
          <a:prstGeom prst="rect">
            <a:avLst/>
          </a:prstGeom>
          <a:solidFill>
            <a:srgbClr val="F6D4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6D4A7"/>
              </a:solidFill>
            </a:endParaRPr>
          </a:p>
        </p:txBody>
      </p:sp>
      <p:sp>
        <p:nvSpPr>
          <p:cNvPr id="2" name="Text 0">
            <a:extLst>
              <a:ext uri="{FF2B5EF4-FFF2-40B4-BE49-F238E27FC236}">
                <a16:creationId xmlns:a16="http://schemas.microsoft.com/office/drawing/2014/main" id="{354A5206-B844-41A2-A7CD-E19F89D70A30}"/>
              </a:ext>
            </a:extLst>
          </p:cNvPr>
          <p:cNvSpPr/>
          <p:nvPr/>
        </p:nvSpPr>
        <p:spPr>
          <a:xfrm>
            <a:off x="495432" y="891572"/>
            <a:ext cx="5097963" cy="728856"/>
          </a:xfrm>
          <a:prstGeom prst="rect">
            <a:avLst/>
          </a:prstGeom>
          <a:noFill/>
          <a:ln/>
        </p:spPr>
        <p:txBody>
          <a:bodyPr wrap="square" lIns="0" tIns="0" rIns="0" bIns="0" rtlCol="0" anchor="t"/>
          <a:lstStyle/>
          <a:p>
            <a:pPr marL="0" indent="0" algn="l">
              <a:lnSpc>
                <a:spcPts val="5550"/>
              </a:lnSpc>
              <a:buNone/>
            </a:pPr>
            <a:r>
              <a:rPr lang="en-US" sz="6600" dirty="0">
                <a:solidFill>
                  <a:srgbClr val="1B1B27"/>
                </a:solidFill>
                <a:latin typeface="Corben" pitchFamily="34" charset="0"/>
                <a:ea typeface="Corben" pitchFamily="34" charset="-122"/>
                <a:cs typeface="Corben" pitchFamily="34" charset="-120"/>
              </a:rPr>
              <a:t>Introduction</a:t>
            </a:r>
            <a:endParaRPr lang="en-US" sz="4450" dirty="0"/>
          </a:p>
        </p:txBody>
      </p:sp>
      <p:sp>
        <p:nvSpPr>
          <p:cNvPr id="4" name="Rectangle 3">
            <a:extLst>
              <a:ext uri="{FF2B5EF4-FFF2-40B4-BE49-F238E27FC236}">
                <a16:creationId xmlns:a16="http://schemas.microsoft.com/office/drawing/2014/main" id="{DFE735E1-BD73-4508-904D-F49843B68BA3}"/>
              </a:ext>
            </a:extLst>
          </p:cNvPr>
          <p:cNvSpPr/>
          <p:nvPr/>
        </p:nvSpPr>
        <p:spPr>
          <a:xfrm>
            <a:off x="495432" y="1663700"/>
            <a:ext cx="7423084" cy="6017032"/>
          </a:xfrm>
          <a:prstGeom prst="rect">
            <a:avLst/>
          </a:prstGeom>
        </p:spPr>
        <p:txBody>
          <a:bodyPr wrap="square">
            <a:spAutoFit/>
          </a:bodyPr>
          <a:lstStyle/>
          <a:p>
            <a:pPr>
              <a:lnSpc>
                <a:spcPts val="2850"/>
              </a:lnSpc>
            </a:pPr>
            <a:r>
              <a:rPr lang="en-US" sz="1750" dirty="0">
                <a:solidFill>
                  <a:srgbClr val="404155"/>
                </a:solidFill>
                <a:latin typeface="Nobile" pitchFamily="34" charset="0"/>
              </a:rPr>
              <a:t>This MySQL project focuses on analyzing India’s trade data between 2010 and 2021, including both imports and exports across various sectors. The objective of this project is to store, manage, and analyze large volumes of trade data efficiently using MySQL database techniques. By organizing the data into structured tables and applying SQL queries, the project aims to extract meaningful insights regarding trade trends, major trading partners, sector-wise performance, and year-on-year growth.</a:t>
            </a:r>
          </a:p>
          <a:p>
            <a:pPr>
              <a:lnSpc>
                <a:spcPts val="2850"/>
              </a:lnSpc>
            </a:pPr>
            <a:endParaRPr lang="en-US" sz="1750" dirty="0">
              <a:solidFill>
                <a:srgbClr val="404155"/>
              </a:solidFill>
              <a:latin typeface="Nobile" pitchFamily="34" charset="0"/>
            </a:endParaRPr>
          </a:p>
          <a:p>
            <a:pPr>
              <a:lnSpc>
                <a:spcPts val="2850"/>
              </a:lnSpc>
            </a:pPr>
            <a:r>
              <a:rPr lang="en-US" sz="1750" dirty="0">
                <a:solidFill>
                  <a:srgbClr val="404155"/>
                </a:solidFill>
                <a:latin typeface="Nobile" pitchFamily="34" charset="0"/>
              </a:rPr>
              <a:t>The database is designed to handle key attributes such as trade values, commodities, countries involved, and time periods. Through the use of joins, aggregations, filtering, and indexing, the project demonstrates how relational database systems can be used for real-world data analysis. It also highlights how MySQL can support decision-making by enabling quick and accurate retrieval of information.</a:t>
            </a:r>
          </a:p>
        </p:txBody>
      </p:sp>
      <p:pic>
        <p:nvPicPr>
          <p:cNvPr id="1036" name="Picture 12" descr="Globe india Vector Images &amp; Graphics for Commercial Use | VectorStock">
            <a:extLst>
              <a:ext uri="{FF2B5EF4-FFF2-40B4-BE49-F238E27FC236}">
                <a16:creationId xmlns:a16="http://schemas.microsoft.com/office/drawing/2014/main" id="{24C7B0B9-2B22-41E8-BB83-1446773080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8516" y="1620428"/>
            <a:ext cx="714375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4744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36"/>
                                        </p:tgtEl>
                                        <p:attrNameLst>
                                          <p:attrName>style.visibility</p:attrName>
                                        </p:attrNameLst>
                                      </p:cBhvr>
                                      <p:to>
                                        <p:strVal val="visible"/>
                                      </p:to>
                                    </p:set>
                                    <p:anim calcmode="lin" valueType="num">
                                      <p:cBhvr additive="base">
                                        <p:cTn id="13" dur="500" fill="hold"/>
                                        <p:tgtEl>
                                          <p:spTgt spid="1036"/>
                                        </p:tgtEl>
                                        <p:attrNameLst>
                                          <p:attrName>ppt_x</p:attrName>
                                        </p:attrNameLst>
                                      </p:cBhvr>
                                      <p:tavLst>
                                        <p:tav tm="0">
                                          <p:val>
                                            <p:strVal val="#ppt_x"/>
                                          </p:val>
                                        </p:tav>
                                        <p:tav tm="100000">
                                          <p:val>
                                            <p:strVal val="#ppt_x"/>
                                          </p:val>
                                        </p:tav>
                                      </p:tavLst>
                                    </p:anim>
                                    <p:anim calcmode="lin" valueType="num">
                                      <p:cBhvr additive="base">
                                        <p:cTn id="14" dur="500" fill="hold"/>
                                        <p:tgtEl>
                                          <p:spTgt spid="10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1158134-1079-4EA4-A7A4-2AE90CF3FAC5}"/>
              </a:ext>
            </a:extLst>
          </p:cNvPr>
          <p:cNvSpPr/>
          <p:nvPr/>
        </p:nvSpPr>
        <p:spPr>
          <a:xfrm>
            <a:off x="8534400" y="0"/>
            <a:ext cx="6096000" cy="8229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Objective Images - Free Download on Freepik">
            <a:extLst>
              <a:ext uri="{FF2B5EF4-FFF2-40B4-BE49-F238E27FC236}">
                <a16:creationId xmlns:a16="http://schemas.microsoft.com/office/drawing/2014/main" id="{A72B72B5-4A15-4989-9C14-C3FC145541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4400" y="1768814"/>
            <a:ext cx="6096000" cy="406125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4E5A0B02-68F5-4DA4-99B6-AFF13BFBEFDD}"/>
              </a:ext>
            </a:extLst>
          </p:cNvPr>
          <p:cNvSpPr/>
          <p:nvPr/>
        </p:nvSpPr>
        <p:spPr>
          <a:xfrm>
            <a:off x="12654455" y="7620000"/>
            <a:ext cx="1891862" cy="515007"/>
          </a:xfrm>
          <a:prstGeom prst="rect">
            <a:avLst/>
          </a:prstGeom>
          <a:solidFill>
            <a:srgbClr val="F9F9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3" name="Text 0">
            <a:extLst>
              <a:ext uri="{FF2B5EF4-FFF2-40B4-BE49-F238E27FC236}">
                <a16:creationId xmlns:a16="http://schemas.microsoft.com/office/drawing/2014/main" id="{BF63761C-E91B-4433-A26A-AD09552358AE}"/>
              </a:ext>
            </a:extLst>
          </p:cNvPr>
          <p:cNvSpPr/>
          <p:nvPr/>
        </p:nvSpPr>
        <p:spPr>
          <a:xfrm>
            <a:off x="925241" y="507154"/>
            <a:ext cx="5097963" cy="728856"/>
          </a:xfrm>
          <a:prstGeom prst="rect">
            <a:avLst/>
          </a:prstGeom>
          <a:noFill/>
          <a:ln/>
        </p:spPr>
        <p:txBody>
          <a:bodyPr wrap="square" lIns="0" tIns="0" rIns="0" bIns="0" rtlCol="0" anchor="t"/>
          <a:lstStyle/>
          <a:p>
            <a:pPr marL="0" indent="0" algn="l">
              <a:lnSpc>
                <a:spcPts val="5550"/>
              </a:lnSpc>
              <a:buNone/>
            </a:pPr>
            <a:r>
              <a:rPr lang="en-US" sz="6600" dirty="0">
                <a:solidFill>
                  <a:srgbClr val="1B1B27"/>
                </a:solidFill>
                <a:latin typeface="Corben" pitchFamily="34" charset="0"/>
                <a:ea typeface="Corben" pitchFamily="34" charset="-122"/>
                <a:cs typeface="Corben" pitchFamily="34" charset="-120"/>
              </a:rPr>
              <a:t>Objective</a:t>
            </a:r>
            <a:endParaRPr lang="en-US" sz="4400" dirty="0"/>
          </a:p>
        </p:txBody>
      </p:sp>
      <p:sp>
        <p:nvSpPr>
          <p:cNvPr id="4" name="Rectangle 3">
            <a:extLst>
              <a:ext uri="{FF2B5EF4-FFF2-40B4-BE49-F238E27FC236}">
                <a16:creationId xmlns:a16="http://schemas.microsoft.com/office/drawing/2014/main" id="{83BABAD8-B153-42AF-8F13-91DAA08E4D7E}"/>
              </a:ext>
            </a:extLst>
          </p:cNvPr>
          <p:cNvSpPr/>
          <p:nvPr/>
        </p:nvSpPr>
        <p:spPr>
          <a:xfrm>
            <a:off x="925241" y="1231072"/>
            <a:ext cx="7609159" cy="6388928"/>
          </a:xfrm>
          <a:prstGeom prst="rect">
            <a:avLst/>
          </a:prstGeom>
        </p:spPr>
        <p:txBody>
          <a:bodyPr wrap="square">
            <a:spAutoFit/>
          </a:bodyPr>
          <a:lstStyle/>
          <a:p>
            <a:pPr marL="285750" indent="-285750">
              <a:lnSpc>
                <a:spcPts val="2850"/>
              </a:lnSpc>
              <a:buFont typeface="Arial" panose="020B0604020202020204" pitchFamily="34" charset="0"/>
              <a:buChar char="•"/>
            </a:pPr>
            <a:r>
              <a:rPr lang="en-US" dirty="0">
                <a:solidFill>
                  <a:srgbClr val="404155"/>
                </a:solidFill>
                <a:latin typeface="Poppins" panose="00000800000000000000" pitchFamily="2" charset="0"/>
                <a:cs typeface="Poppins" panose="00000800000000000000" pitchFamily="2" charset="0"/>
              </a:rPr>
              <a:t>Overall Trade Analysis:</a:t>
            </a:r>
            <a:br>
              <a:rPr lang="en-US" sz="1750" u="sng" dirty="0">
                <a:solidFill>
                  <a:srgbClr val="404155"/>
                </a:solidFill>
                <a:latin typeface="Nobile" pitchFamily="34" charset="0"/>
              </a:rPr>
            </a:br>
            <a:r>
              <a:rPr lang="en-US" sz="1750" dirty="0">
                <a:solidFill>
                  <a:srgbClr val="404155"/>
                </a:solidFill>
                <a:latin typeface="Nobile" pitchFamily="34" charset="0"/>
              </a:rPr>
              <a:t>To examine the overall trend of India’s imports and exports over the selected period and identify patterns of growth, decline, and stability.</a:t>
            </a:r>
          </a:p>
          <a:p>
            <a:pPr marL="285750" indent="-285750">
              <a:lnSpc>
                <a:spcPts val="2850"/>
              </a:lnSpc>
              <a:buFont typeface="Arial" panose="020B0604020202020204" pitchFamily="34" charset="0"/>
              <a:buChar char="•"/>
            </a:pPr>
            <a:r>
              <a:rPr lang="en-US" dirty="0">
                <a:solidFill>
                  <a:srgbClr val="404155"/>
                </a:solidFill>
                <a:latin typeface="Poppins" panose="00000800000000000000" pitchFamily="2" charset="0"/>
                <a:cs typeface="Poppins" panose="00000800000000000000" pitchFamily="2" charset="0"/>
              </a:rPr>
              <a:t>Major Sectors Identification:</a:t>
            </a:r>
            <a:br>
              <a:rPr lang="en-US" sz="1750" dirty="0">
                <a:solidFill>
                  <a:srgbClr val="404155"/>
                </a:solidFill>
                <a:latin typeface="Nobile" pitchFamily="34" charset="0"/>
              </a:rPr>
            </a:br>
            <a:r>
              <a:rPr lang="en-US" sz="1750" dirty="0">
                <a:solidFill>
                  <a:srgbClr val="404155"/>
                </a:solidFill>
                <a:latin typeface="Nobile" pitchFamily="34" charset="0"/>
              </a:rPr>
              <a:t>To analyze different sectors (such as agriculture, manufacturing, petroleum, etc.) and determine their contribution to India’s total trade.</a:t>
            </a:r>
          </a:p>
          <a:p>
            <a:pPr marL="285750" indent="-285750">
              <a:lnSpc>
                <a:spcPts val="2850"/>
              </a:lnSpc>
              <a:buFont typeface="Arial" panose="020B0604020202020204" pitchFamily="34" charset="0"/>
              <a:buChar char="•"/>
            </a:pPr>
            <a:r>
              <a:rPr lang="en-US" dirty="0">
                <a:solidFill>
                  <a:srgbClr val="404155"/>
                </a:solidFill>
                <a:latin typeface="Poppins" panose="00000800000000000000" pitchFamily="2" charset="0"/>
                <a:cs typeface="Poppins" panose="00000800000000000000" pitchFamily="2" charset="0"/>
              </a:rPr>
              <a:t>Trade Deficit Evaluation:</a:t>
            </a:r>
            <a:br>
              <a:rPr lang="en-US" sz="1750" dirty="0">
                <a:solidFill>
                  <a:srgbClr val="404155"/>
                </a:solidFill>
                <a:latin typeface="Nobile" pitchFamily="34" charset="0"/>
              </a:rPr>
            </a:br>
            <a:r>
              <a:rPr lang="en-US" sz="1750" dirty="0">
                <a:solidFill>
                  <a:srgbClr val="404155"/>
                </a:solidFill>
                <a:latin typeface="Nobile" pitchFamily="34" charset="0"/>
              </a:rPr>
              <a:t>To identify years with trade deficits and analyze the gap between imports and exports to understand economic implications.</a:t>
            </a:r>
          </a:p>
          <a:p>
            <a:pPr marL="285750" indent="-285750">
              <a:lnSpc>
                <a:spcPts val="2850"/>
              </a:lnSpc>
              <a:buFont typeface="Arial" panose="020B0604020202020204" pitchFamily="34" charset="0"/>
              <a:buChar char="•"/>
            </a:pPr>
            <a:r>
              <a:rPr lang="en-US" dirty="0">
                <a:solidFill>
                  <a:srgbClr val="404155"/>
                </a:solidFill>
                <a:latin typeface="Poppins" panose="00000800000000000000" pitchFamily="2" charset="0"/>
                <a:cs typeface="Poppins" panose="00000800000000000000" pitchFamily="2" charset="0"/>
              </a:rPr>
              <a:t>Surge in Exports:</a:t>
            </a:r>
            <a:br>
              <a:rPr lang="en-US" sz="1750" dirty="0">
                <a:solidFill>
                  <a:srgbClr val="404155"/>
                </a:solidFill>
                <a:latin typeface="Nobile" pitchFamily="34" charset="0"/>
              </a:rPr>
            </a:br>
            <a:r>
              <a:rPr lang="en-US" sz="1750" dirty="0">
                <a:solidFill>
                  <a:srgbClr val="404155"/>
                </a:solidFill>
                <a:latin typeface="Nobile" pitchFamily="34" charset="0"/>
              </a:rPr>
              <a:t>To detect periods of significant increase in exports and study the factors contributing to such growth.</a:t>
            </a:r>
          </a:p>
          <a:p>
            <a:pPr marL="285750" indent="-285750">
              <a:lnSpc>
                <a:spcPts val="2850"/>
              </a:lnSpc>
              <a:buFont typeface="Arial" panose="020B0604020202020204" pitchFamily="34" charset="0"/>
              <a:buChar char="•"/>
            </a:pPr>
            <a:r>
              <a:rPr lang="en-US" dirty="0">
                <a:solidFill>
                  <a:srgbClr val="404155"/>
                </a:solidFill>
                <a:latin typeface="Poppins" panose="00000800000000000000" pitchFamily="2" charset="0"/>
                <a:cs typeface="Poppins" panose="00000800000000000000" pitchFamily="2" charset="0"/>
              </a:rPr>
              <a:t>Major Export and Import Sources:</a:t>
            </a:r>
            <a:br>
              <a:rPr lang="en-US" sz="1750" dirty="0">
                <a:solidFill>
                  <a:srgbClr val="404155"/>
                </a:solidFill>
                <a:latin typeface="Nobile" pitchFamily="34" charset="0"/>
              </a:rPr>
            </a:br>
            <a:r>
              <a:rPr lang="en-US" sz="1750" dirty="0">
                <a:solidFill>
                  <a:srgbClr val="404155"/>
                </a:solidFill>
                <a:latin typeface="Nobile" pitchFamily="34" charset="0"/>
              </a:rPr>
              <a:t>To identify key trading partners of India and analyze which countries contribute most to imports and exports.</a:t>
            </a:r>
          </a:p>
        </p:txBody>
      </p:sp>
    </p:spTree>
    <p:extLst>
      <p:ext uri="{BB962C8B-B14F-4D97-AF65-F5344CB8AC3E}">
        <p14:creationId xmlns:p14="http://schemas.microsoft.com/office/powerpoint/2010/main" val="1876186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p:cTn id="7" dur="1000" fill="hold"/>
                                        <p:tgtEl>
                                          <p:spTgt spid="2050"/>
                                        </p:tgtEl>
                                        <p:attrNameLst>
                                          <p:attrName>ppt_w</p:attrName>
                                        </p:attrNameLst>
                                      </p:cBhvr>
                                      <p:tavLst>
                                        <p:tav tm="0">
                                          <p:val>
                                            <p:fltVal val="0"/>
                                          </p:val>
                                        </p:tav>
                                        <p:tav tm="100000">
                                          <p:val>
                                            <p:strVal val="#ppt_w"/>
                                          </p:val>
                                        </p:tav>
                                      </p:tavLst>
                                    </p:anim>
                                    <p:anim calcmode="lin" valueType="num">
                                      <p:cBhvr>
                                        <p:cTn id="8" dur="1000" fill="hold"/>
                                        <p:tgtEl>
                                          <p:spTgt spid="2050"/>
                                        </p:tgtEl>
                                        <p:attrNameLst>
                                          <p:attrName>ppt_h</p:attrName>
                                        </p:attrNameLst>
                                      </p:cBhvr>
                                      <p:tavLst>
                                        <p:tav tm="0">
                                          <p:val>
                                            <p:fltVal val="0"/>
                                          </p:val>
                                        </p:tav>
                                        <p:tav tm="100000">
                                          <p:val>
                                            <p:strVal val="#ppt_h"/>
                                          </p:val>
                                        </p:tav>
                                      </p:tavLst>
                                    </p:anim>
                                    <p:anim calcmode="lin" valueType="num">
                                      <p:cBhvr>
                                        <p:cTn id="9" dur="1000" fill="hold"/>
                                        <p:tgtEl>
                                          <p:spTgt spid="2050"/>
                                        </p:tgtEl>
                                        <p:attrNameLst>
                                          <p:attrName>style.rotation</p:attrName>
                                        </p:attrNameLst>
                                      </p:cBhvr>
                                      <p:tavLst>
                                        <p:tav tm="0">
                                          <p:val>
                                            <p:fltVal val="90"/>
                                          </p:val>
                                        </p:tav>
                                        <p:tav tm="100000">
                                          <p:val>
                                            <p:fltVal val="0"/>
                                          </p:val>
                                        </p:tav>
                                      </p:tavLst>
                                    </p:anim>
                                    <p:animEffect transition="in" filter="fade">
                                      <p:cBhvr>
                                        <p:cTn id="10" dur="1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155746"/>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1B1B27"/>
                </a:solidFill>
                <a:latin typeface="Corben" pitchFamily="34" charset="0"/>
                <a:ea typeface="Corben" pitchFamily="34" charset="-122"/>
                <a:cs typeface="Corben" pitchFamily="34" charset="-120"/>
              </a:rPr>
              <a:t>India's Trade Landscape: A Decade of Transformation (2010-2021)</a:t>
            </a:r>
            <a:endParaRPr lang="en-US" sz="4450" dirty="0"/>
          </a:p>
        </p:txBody>
      </p:sp>
      <p:sp>
        <p:nvSpPr>
          <p:cNvPr id="4" name="Text 1"/>
          <p:cNvSpPr/>
          <p:nvPr/>
        </p:nvSpPr>
        <p:spPr>
          <a:xfrm>
            <a:off x="793790" y="4622244"/>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From 2010 to 2021, India's international trade underwent a remarkable evolution. This presentation explores the journey of India's exports and imports, examining key trends, challenges, and the nation's growing footprint in the global marketplace.</a:t>
            </a:r>
            <a:endParaRPr lang="en-US" sz="1750" dirty="0"/>
          </a:p>
        </p:txBody>
      </p:sp>
      <p:sp>
        <p:nvSpPr>
          <p:cNvPr id="5" name="Rectangle 4">
            <a:extLst>
              <a:ext uri="{FF2B5EF4-FFF2-40B4-BE49-F238E27FC236}">
                <a16:creationId xmlns:a16="http://schemas.microsoft.com/office/drawing/2014/main" id="{33CA15B5-14EE-4B22-B9DE-F3FDC6C66961}"/>
              </a:ext>
            </a:extLst>
          </p:cNvPr>
          <p:cNvSpPr/>
          <p:nvPr/>
        </p:nvSpPr>
        <p:spPr>
          <a:xfrm>
            <a:off x="3303065" y="7104993"/>
            <a:ext cx="1891862" cy="515007"/>
          </a:xfrm>
          <a:prstGeom prst="rect">
            <a:avLst/>
          </a:prstGeom>
          <a:solidFill>
            <a:srgbClr val="F9F9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ext 0"/>
          <p:cNvSpPr/>
          <p:nvPr/>
        </p:nvSpPr>
        <p:spPr>
          <a:xfrm>
            <a:off x="793790" y="1680924"/>
            <a:ext cx="10528102"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Corben" pitchFamily="34" charset="0"/>
                <a:ea typeface="Corben" pitchFamily="34" charset="-122"/>
                <a:cs typeface="Corben" pitchFamily="34" charset="-120"/>
              </a:rPr>
              <a:t>The Starting </a:t>
            </a:r>
            <a:r>
              <a:rPr lang="en-US" sz="4450" dirty="0">
                <a:solidFill>
                  <a:srgbClr val="1B1B27"/>
                </a:solidFill>
                <a:latin typeface="Corben" panose="020F0503020000020004" charset="0"/>
                <a:ea typeface="Corben" pitchFamily="34" charset="-122"/>
                <a:cs typeface="Corben" pitchFamily="34" charset="-120"/>
              </a:rPr>
              <a:t>Point</a:t>
            </a:r>
            <a:r>
              <a:rPr lang="en-US" sz="4450" dirty="0">
                <a:solidFill>
                  <a:srgbClr val="1B1B27"/>
                </a:solidFill>
                <a:latin typeface="Corben" pitchFamily="34" charset="0"/>
                <a:ea typeface="Corben" pitchFamily="34" charset="-122"/>
                <a:cs typeface="Corben" pitchFamily="34" charset="-120"/>
              </a:rPr>
              <a:t>: India's Trade in 2010</a:t>
            </a:r>
            <a:endParaRPr lang="en-US" sz="4450" dirty="0"/>
          </a:p>
        </p:txBody>
      </p:sp>
      <p:sp>
        <p:nvSpPr>
          <p:cNvPr id="3" name="Text 1"/>
          <p:cNvSpPr/>
          <p:nvPr/>
        </p:nvSpPr>
        <p:spPr>
          <a:xfrm>
            <a:off x="793790" y="2956679"/>
            <a:ext cx="4158615" cy="748427"/>
          </a:xfrm>
          <a:prstGeom prst="rect">
            <a:avLst/>
          </a:prstGeom>
          <a:noFill/>
          <a:ln/>
        </p:spPr>
        <p:txBody>
          <a:bodyPr wrap="none" lIns="0" tIns="0" rIns="0" bIns="0" rtlCol="0" anchor="t"/>
          <a:lstStyle/>
          <a:p>
            <a:pPr marL="0" indent="0" algn="ctr">
              <a:lnSpc>
                <a:spcPts val="5850"/>
              </a:lnSpc>
              <a:buNone/>
            </a:pPr>
            <a:r>
              <a:rPr lang="en-US" sz="5850" dirty="0">
                <a:solidFill>
                  <a:srgbClr val="404155"/>
                </a:solidFill>
                <a:latin typeface="Corben" pitchFamily="34" charset="0"/>
                <a:ea typeface="Corben" pitchFamily="34" charset="-122"/>
                <a:cs typeface="Corben" pitchFamily="34" charset="-120"/>
              </a:rPr>
              <a:t>$220.4B</a:t>
            </a:r>
            <a:endParaRPr lang="en-US" sz="5850" dirty="0"/>
          </a:p>
        </p:txBody>
      </p:sp>
      <p:sp>
        <p:nvSpPr>
          <p:cNvPr id="4" name="Text 2"/>
          <p:cNvSpPr/>
          <p:nvPr/>
        </p:nvSpPr>
        <p:spPr>
          <a:xfrm>
            <a:off x="1455420" y="3988475"/>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04155"/>
                </a:solidFill>
                <a:latin typeface="Corben" pitchFamily="34" charset="0"/>
                <a:ea typeface="Corben" pitchFamily="34" charset="-122"/>
                <a:cs typeface="Corben" pitchFamily="34" charset="-120"/>
              </a:rPr>
              <a:t>Total Exports</a:t>
            </a:r>
            <a:endParaRPr lang="en-US" sz="2200" dirty="0"/>
          </a:p>
        </p:txBody>
      </p:sp>
      <p:sp>
        <p:nvSpPr>
          <p:cNvPr id="5" name="Text 3"/>
          <p:cNvSpPr/>
          <p:nvPr/>
        </p:nvSpPr>
        <p:spPr>
          <a:xfrm>
            <a:off x="793790" y="4478893"/>
            <a:ext cx="4158615" cy="725805"/>
          </a:xfrm>
          <a:prstGeom prst="rect">
            <a:avLst/>
          </a:prstGeom>
          <a:noFill/>
          <a:ln/>
        </p:spPr>
        <p:txBody>
          <a:bodyPr wrap="square" lIns="0" tIns="0" rIns="0" bIns="0" rtlCol="0" anchor="t"/>
          <a:lstStyle/>
          <a:p>
            <a:pPr marL="0" indent="0" algn="ctr">
              <a:lnSpc>
                <a:spcPts val="2850"/>
              </a:lnSpc>
              <a:buNone/>
            </a:pPr>
            <a:r>
              <a:rPr lang="en-US" sz="1750" dirty="0">
                <a:solidFill>
                  <a:srgbClr val="404155"/>
                </a:solidFill>
                <a:latin typeface="Nobile" pitchFamily="34" charset="0"/>
                <a:ea typeface="Nobile" pitchFamily="34" charset="-122"/>
                <a:cs typeface="Nobile" pitchFamily="34" charset="-120"/>
              </a:rPr>
              <a:t>Goods and services shipped worldwide</a:t>
            </a:r>
            <a:endParaRPr lang="en-US" sz="1750" dirty="0"/>
          </a:p>
        </p:txBody>
      </p:sp>
      <p:sp>
        <p:nvSpPr>
          <p:cNvPr id="6" name="Text 4"/>
          <p:cNvSpPr/>
          <p:nvPr/>
        </p:nvSpPr>
        <p:spPr>
          <a:xfrm>
            <a:off x="5235893" y="2956679"/>
            <a:ext cx="4158615" cy="748427"/>
          </a:xfrm>
          <a:prstGeom prst="rect">
            <a:avLst/>
          </a:prstGeom>
          <a:noFill/>
          <a:ln/>
        </p:spPr>
        <p:txBody>
          <a:bodyPr wrap="none" lIns="0" tIns="0" rIns="0" bIns="0" rtlCol="0" anchor="t"/>
          <a:lstStyle/>
          <a:p>
            <a:pPr marL="0" indent="0" algn="ctr">
              <a:lnSpc>
                <a:spcPts val="5850"/>
              </a:lnSpc>
              <a:buNone/>
            </a:pPr>
            <a:r>
              <a:rPr lang="en-US" sz="5850" dirty="0">
                <a:solidFill>
                  <a:srgbClr val="404155"/>
                </a:solidFill>
                <a:latin typeface="Corben" pitchFamily="34" charset="0"/>
                <a:ea typeface="Corben" pitchFamily="34" charset="-122"/>
                <a:cs typeface="Corben" pitchFamily="34" charset="-120"/>
              </a:rPr>
              <a:t>$350.0B</a:t>
            </a:r>
            <a:endParaRPr lang="en-US" sz="5850" dirty="0"/>
          </a:p>
        </p:txBody>
      </p:sp>
      <p:sp>
        <p:nvSpPr>
          <p:cNvPr id="7" name="Text 5"/>
          <p:cNvSpPr/>
          <p:nvPr/>
        </p:nvSpPr>
        <p:spPr>
          <a:xfrm>
            <a:off x="5897523" y="3988475"/>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04155"/>
                </a:solidFill>
                <a:latin typeface="Corben" pitchFamily="34" charset="0"/>
                <a:ea typeface="Corben" pitchFamily="34" charset="-122"/>
                <a:cs typeface="Corben" pitchFamily="34" charset="-120"/>
              </a:rPr>
              <a:t>Total Imports</a:t>
            </a:r>
            <a:endParaRPr lang="en-US" sz="2200" dirty="0"/>
          </a:p>
        </p:txBody>
      </p:sp>
      <p:sp>
        <p:nvSpPr>
          <p:cNvPr id="8" name="Text 6"/>
          <p:cNvSpPr/>
          <p:nvPr/>
        </p:nvSpPr>
        <p:spPr>
          <a:xfrm>
            <a:off x="5235893" y="4478893"/>
            <a:ext cx="4158615" cy="725805"/>
          </a:xfrm>
          <a:prstGeom prst="rect">
            <a:avLst/>
          </a:prstGeom>
          <a:noFill/>
          <a:ln/>
        </p:spPr>
        <p:txBody>
          <a:bodyPr wrap="square" lIns="0" tIns="0" rIns="0" bIns="0" rtlCol="0" anchor="t"/>
          <a:lstStyle/>
          <a:p>
            <a:pPr marL="0" indent="0" algn="ctr">
              <a:lnSpc>
                <a:spcPts val="2850"/>
              </a:lnSpc>
              <a:buNone/>
            </a:pPr>
            <a:r>
              <a:rPr lang="en-US" sz="1750" dirty="0">
                <a:solidFill>
                  <a:srgbClr val="404155"/>
                </a:solidFill>
                <a:latin typeface="Nobile" pitchFamily="34" charset="0"/>
                <a:ea typeface="Nobile" pitchFamily="34" charset="-122"/>
                <a:cs typeface="Nobile" pitchFamily="34" charset="-120"/>
              </a:rPr>
              <a:t>Essential commodities and raw materials</a:t>
            </a:r>
            <a:endParaRPr lang="en-US" sz="1750" dirty="0"/>
          </a:p>
        </p:txBody>
      </p:sp>
      <p:sp>
        <p:nvSpPr>
          <p:cNvPr id="9" name="Text 7"/>
          <p:cNvSpPr/>
          <p:nvPr/>
        </p:nvSpPr>
        <p:spPr>
          <a:xfrm>
            <a:off x="9677995" y="2956679"/>
            <a:ext cx="4158615" cy="748427"/>
          </a:xfrm>
          <a:prstGeom prst="rect">
            <a:avLst/>
          </a:prstGeom>
          <a:noFill/>
          <a:ln/>
        </p:spPr>
        <p:txBody>
          <a:bodyPr wrap="none" lIns="0" tIns="0" rIns="0" bIns="0" rtlCol="0" anchor="t"/>
          <a:lstStyle/>
          <a:p>
            <a:pPr marL="0" indent="0" algn="ctr">
              <a:lnSpc>
                <a:spcPts val="5850"/>
              </a:lnSpc>
              <a:buNone/>
            </a:pPr>
            <a:r>
              <a:rPr lang="en-US" sz="5850" dirty="0">
                <a:solidFill>
                  <a:srgbClr val="404155"/>
                </a:solidFill>
                <a:latin typeface="Corben" pitchFamily="34" charset="0"/>
                <a:ea typeface="Corben" pitchFamily="34" charset="-122"/>
                <a:cs typeface="Corben" pitchFamily="34" charset="-120"/>
              </a:rPr>
              <a:t>$119.6B</a:t>
            </a:r>
            <a:endParaRPr lang="en-US" sz="5850" dirty="0"/>
          </a:p>
        </p:txBody>
      </p:sp>
      <p:sp>
        <p:nvSpPr>
          <p:cNvPr id="10" name="Text 8"/>
          <p:cNvSpPr/>
          <p:nvPr/>
        </p:nvSpPr>
        <p:spPr>
          <a:xfrm>
            <a:off x="10339626" y="3988475"/>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404155"/>
                </a:solidFill>
                <a:latin typeface="Corben" pitchFamily="34" charset="0"/>
                <a:ea typeface="Corben" pitchFamily="34" charset="-122"/>
                <a:cs typeface="Corben" pitchFamily="34" charset="-120"/>
              </a:rPr>
              <a:t>Trade Deficit</a:t>
            </a:r>
            <a:endParaRPr lang="en-US" sz="2200" dirty="0"/>
          </a:p>
        </p:txBody>
      </p:sp>
      <p:sp>
        <p:nvSpPr>
          <p:cNvPr id="11" name="Text 9"/>
          <p:cNvSpPr/>
          <p:nvPr/>
        </p:nvSpPr>
        <p:spPr>
          <a:xfrm>
            <a:off x="9677995" y="4478893"/>
            <a:ext cx="4158615" cy="362903"/>
          </a:xfrm>
          <a:prstGeom prst="rect">
            <a:avLst/>
          </a:prstGeom>
          <a:noFill/>
          <a:ln/>
        </p:spPr>
        <p:txBody>
          <a:bodyPr wrap="none" lIns="0" tIns="0" rIns="0" bIns="0" rtlCol="0" anchor="t"/>
          <a:lstStyle/>
          <a:p>
            <a:pPr marL="0" indent="0" algn="ctr">
              <a:lnSpc>
                <a:spcPts val="2850"/>
              </a:lnSpc>
              <a:buNone/>
            </a:pPr>
            <a:r>
              <a:rPr lang="en-US" sz="1750" dirty="0">
                <a:solidFill>
                  <a:srgbClr val="404155"/>
                </a:solidFill>
                <a:latin typeface="Nobile" pitchFamily="34" charset="0"/>
                <a:ea typeface="Nobile" pitchFamily="34" charset="-122"/>
                <a:cs typeface="Nobile" pitchFamily="34" charset="-120"/>
              </a:rPr>
              <a:t>The initial gap to address</a:t>
            </a:r>
            <a:endParaRPr lang="en-US" sz="1750" dirty="0"/>
          </a:p>
        </p:txBody>
      </p:sp>
      <p:sp>
        <p:nvSpPr>
          <p:cNvPr id="12" name="Text 10"/>
          <p:cNvSpPr/>
          <p:nvPr/>
        </p:nvSpPr>
        <p:spPr>
          <a:xfrm>
            <a:off x="793790" y="5459849"/>
            <a:ext cx="13042821" cy="1088708"/>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In 2010, India faced a substantial trade deficit while building its export infrastructure. Key trade partners included the United States, China, and the UAE. Dominant export categories featured petroleum products, gems and jewelry, and textiles, while crude oil, machinery, and electronics led imports.</a:t>
            </a:r>
            <a:endParaRPr lang="en-US" sz="1750" dirty="0"/>
          </a:p>
        </p:txBody>
      </p:sp>
      <p:sp>
        <p:nvSpPr>
          <p:cNvPr id="13" name="Rectangle 12">
            <a:extLst>
              <a:ext uri="{FF2B5EF4-FFF2-40B4-BE49-F238E27FC236}">
                <a16:creationId xmlns:a16="http://schemas.microsoft.com/office/drawing/2014/main" id="{A12D1441-5A33-477A-A5D2-FA5C0FA3EF0E}"/>
              </a:ext>
            </a:extLst>
          </p:cNvPr>
          <p:cNvSpPr/>
          <p:nvPr/>
        </p:nvSpPr>
        <p:spPr>
          <a:xfrm>
            <a:off x="12654455" y="7620000"/>
            <a:ext cx="1891862" cy="515007"/>
          </a:xfrm>
          <a:prstGeom prst="rect">
            <a:avLst/>
          </a:prstGeom>
          <a:solidFill>
            <a:srgbClr val="F9F9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414820" y="495657"/>
            <a:ext cx="6565583" cy="534352"/>
          </a:xfrm>
          <a:prstGeom prst="rect">
            <a:avLst/>
          </a:prstGeom>
          <a:noFill/>
          <a:ln/>
        </p:spPr>
        <p:txBody>
          <a:bodyPr wrap="none" lIns="0" tIns="0" rIns="0" bIns="0" rtlCol="0" anchor="t"/>
          <a:lstStyle/>
          <a:p>
            <a:pPr marL="0" indent="0" algn="l">
              <a:lnSpc>
                <a:spcPts val="4200"/>
              </a:lnSpc>
              <a:buNone/>
            </a:pPr>
            <a:r>
              <a:rPr lang="en-US" sz="3350" dirty="0">
                <a:solidFill>
                  <a:srgbClr val="1B1B27"/>
                </a:solidFill>
                <a:latin typeface="Corben" pitchFamily="34" charset="0"/>
                <a:ea typeface="Corben" pitchFamily="34" charset="-122"/>
                <a:cs typeface="Corben" pitchFamily="34" charset="-120"/>
              </a:rPr>
              <a:t>Dramatic Growth: Exports Surge</a:t>
            </a:r>
            <a:endParaRPr lang="en-US" sz="3350" dirty="0"/>
          </a:p>
        </p:txBody>
      </p:sp>
      <p:pic>
        <p:nvPicPr>
          <p:cNvPr id="3" name="Image 0" descr="preencoded.png"/>
          <p:cNvPicPr>
            <a:picLocks noChangeAspect="1"/>
          </p:cNvPicPr>
          <p:nvPr/>
        </p:nvPicPr>
        <p:blipFill>
          <a:blip r:embed="rId3"/>
          <a:stretch>
            <a:fillRect/>
          </a:stretch>
        </p:blipFill>
        <p:spPr>
          <a:xfrm>
            <a:off x="1414820" y="2939534"/>
            <a:ext cx="855107" cy="1026081"/>
          </a:xfrm>
          <a:prstGeom prst="rect">
            <a:avLst/>
          </a:prstGeom>
        </p:spPr>
      </p:pic>
      <p:sp>
        <p:nvSpPr>
          <p:cNvPr id="4" name="Text 1"/>
          <p:cNvSpPr/>
          <p:nvPr/>
        </p:nvSpPr>
        <p:spPr>
          <a:xfrm>
            <a:off x="2398871" y="3110508"/>
            <a:ext cx="2488406" cy="267295"/>
          </a:xfrm>
          <a:prstGeom prst="rect">
            <a:avLst/>
          </a:prstGeom>
          <a:noFill/>
          <a:ln/>
        </p:spPr>
        <p:txBody>
          <a:bodyPr wrap="none" lIns="0" tIns="0" rIns="0" bIns="0" rtlCol="0" anchor="t"/>
          <a:lstStyle/>
          <a:p>
            <a:pPr marL="0" indent="0" algn="l">
              <a:lnSpc>
                <a:spcPts val="2100"/>
              </a:lnSpc>
              <a:buNone/>
            </a:pPr>
            <a:r>
              <a:rPr lang="en-US" sz="1650" dirty="0">
                <a:solidFill>
                  <a:srgbClr val="404155"/>
                </a:solidFill>
                <a:latin typeface="Corben" pitchFamily="34" charset="0"/>
                <a:ea typeface="Corben" pitchFamily="34" charset="-122"/>
                <a:cs typeface="Corben" pitchFamily="34" charset="-120"/>
              </a:rPr>
              <a:t>2010: $220.4 Billion USD</a:t>
            </a:r>
            <a:endParaRPr lang="en-US" sz="1650" dirty="0"/>
          </a:p>
        </p:txBody>
      </p:sp>
      <p:sp>
        <p:nvSpPr>
          <p:cNvPr id="5" name="Text 2"/>
          <p:cNvSpPr/>
          <p:nvPr/>
        </p:nvSpPr>
        <p:spPr>
          <a:xfrm>
            <a:off x="2398871" y="3506748"/>
            <a:ext cx="6540341" cy="239792"/>
          </a:xfrm>
          <a:prstGeom prst="rect">
            <a:avLst/>
          </a:prstGeom>
          <a:noFill/>
          <a:ln/>
        </p:spPr>
        <p:txBody>
          <a:bodyPr wrap="none" lIns="0" tIns="0" rIns="0" bIns="0" rtlCol="0" anchor="t"/>
          <a:lstStyle/>
          <a:p>
            <a:pPr marL="0" indent="0" algn="l">
              <a:lnSpc>
                <a:spcPts val="1850"/>
              </a:lnSpc>
              <a:buNone/>
            </a:pPr>
            <a:r>
              <a:rPr lang="en-US" sz="1300" dirty="0">
                <a:solidFill>
                  <a:srgbClr val="404155"/>
                </a:solidFill>
                <a:latin typeface="Nobile" pitchFamily="34" charset="0"/>
                <a:ea typeface="Nobile" pitchFamily="34" charset="-122"/>
                <a:cs typeface="Nobile" pitchFamily="34" charset="-120"/>
              </a:rPr>
              <a:t>Base year with established manufacturing sectors</a:t>
            </a:r>
            <a:endParaRPr lang="en-US" sz="1300" dirty="0"/>
          </a:p>
        </p:txBody>
      </p:sp>
      <p:pic>
        <p:nvPicPr>
          <p:cNvPr id="6" name="Image 1" descr="preencoded.png"/>
          <p:cNvPicPr>
            <a:picLocks noChangeAspect="1"/>
          </p:cNvPicPr>
          <p:nvPr/>
        </p:nvPicPr>
        <p:blipFill>
          <a:blip r:embed="rId4"/>
          <a:stretch>
            <a:fillRect/>
          </a:stretch>
        </p:blipFill>
        <p:spPr>
          <a:xfrm>
            <a:off x="1414820" y="3965615"/>
            <a:ext cx="855107" cy="1026081"/>
          </a:xfrm>
          <a:prstGeom prst="rect">
            <a:avLst/>
          </a:prstGeom>
        </p:spPr>
      </p:pic>
      <p:sp>
        <p:nvSpPr>
          <p:cNvPr id="7" name="Text 3"/>
          <p:cNvSpPr/>
          <p:nvPr/>
        </p:nvSpPr>
        <p:spPr>
          <a:xfrm>
            <a:off x="2398871" y="4136588"/>
            <a:ext cx="2137767" cy="267295"/>
          </a:xfrm>
          <a:prstGeom prst="rect">
            <a:avLst/>
          </a:prstGeom>
          <a:noFill/>
          <a:ln/>
        </p:spPr>
        <p:txBody>
          <a:bodyPr wrap="none" lIns="0" tIns="0" rIns="0" bIns="0" rtlCol="0" anchor="t"/>
          <a:lstStyle/>
          <a:p>
            <a:pPr marL="0" indent="0" algn="l">
              <a:lnSpc>
                <a:spcPts val="2100"/>
              </a:lnSpc>
              <a:buNone/>
            </a:pPr>
            <a:r>
              <a:rPr lang="en-US" sz="1650" dirty="0">
                <a:solidFill>
                  <a:srgbClr val="404155"/>
                </a:solidFill>
                <a:latin typeface="Corben" pitchFamily="34" charset="0"/>
                <a:ea typeface="Corben" pitchFamily="34" charset="-122"/>
                <a:cs typeface="Corben" pitchFamily="34" charset="-120"/>
              </a:rPr>
              <a:t>Mid-Period Growth</a:t>
            </a:r>
            <a:endParaRPr lang="en-US" sz="1650" dirty="0"/>
          </a:p>
        </p:txBody>
      </p:sp>
      <p:sp>
        <p:nvSpPr>
          <p:cNvPr id="8" name="Text 4"/>
          <p:cNvSpPr/>
          <p:nvPr/>
        </p:nvSpPr>
        <p:spPr>
          <a:xfrm>
            <a:off x="2398871" y="4532828"/>
            <a:ext cx="6540341" cy="239792"/>
          </a:xfrm>
          <a:prstGeom prst="rect">
            <a:avLst/>
          </a:prstGeom>
          <a:noFill/>
          <a:ln/>
        </p:spPr>
        <p:txBody>
          <a:bodyPr wrap="none" lIns="0" tIns="0" rIns="0" bIns="0" rtlCol="0" anchor="t"/>
          <a:lstStyle/>
          <a:p>
            <a:pPr marL="0" indent="0" algn="l">
              <a:lnSpc>
                <a:spcPts val="1850"/>
              </a:lnSpc>
              <a:buNone/>
            </a:pPr>
            <a:r>
              <a:rPr lang="en-US" sz="1300" dirty="0">
                <a:solidFill>
                  <a:srgbClr val="404155"/>
                </a:solidFill>
                <a:latin typeface="Nobile" pitchFamily="34" charset="0"/>
                <a:ea typeface="Nobile" pitchFamily="34" charset="-122"/>
                <a:cs typeface="Nobile" pitchFamily="34" charset="-120"/>
              </a:rPr>
              <a:t>Steady expansion across pharmaceuticals and IT services</a:t>
            </a:r>
            <a:endParaRPr lang="en-US" sz="1300" dirty="0"/>
          </a:p>
        </p:txBody>
      </p:sp>
      <p:pic>
        <p:nvPicPr>
          <p:cNvPr id="9" name="Image 2" descr="preencoded.png"/>
          <p:cNvPicPr>
            <a:picLocks noChangeAspect="1"/>
          </p:cNvPicPr>
          <p:nvPr/>
        </p:nvPicPr>
        <p:blipFill>
          <a:blip r:embed="rId5"/>
          <a:stretch>
            <a:fillRect/>
          </a:stretch>
        </p:blipFill>
        <p:spPr>
          <a:xfrm>
            <a:off x="1414820" y="4991695"/>
            <a:ext cx="855107" cy="1026081"/>
          </a:xfrm>
          <a:prstGeom prst="rect">
            <a:avLst/>
          </a:prstGeom>
        </p:spPr>
      </p:pic>
      <p:sp>
        <p:nvSpPr>
          <p:cNvPr id="10" name="Text 5"/>
          <p:cNvSpPr/>
          <p:nvPr/>
        </p:nvSpPr>
        <p:spPr>
          <a:xfrm>
            <a:off x="2398871" y="5162669"/>
            <a:ext cx="2431733" cy="267295"/>
          </a:xfrm>
          <a:prstGeom prst="rect">
            <a:avLst/>
          </a:prstGeom>
          <a:noFill/>
          <a:ln/>
        </p:spPr>
        <p:txBody>
          <a:bodyPr wrap="none" lIns="0" tIns="0" rIns="0" bIns="0" rtlCol="0" anchor="t"/>
          <a:lstStyle/>
          <a:p>
            <a:pPr marL="0" indent="0" algn="l">
              <a:lnSpc>
                <a:spcPts val="2100"/>
              </a:lnSpc>
              <a:buNone/>
            </a:pPr>
            <a:r>
              <a:rPr lang="en-US" sz="1650" dirty="0">
                <a:solidFill>
                  <a:srgbClr val="404155"/>
                </a:solidFill>
                <a:latin typeface="Corben" pitchFamily="34" charset="0"/>
                <a:ea typeface="Corben" pitchFamily="34" charset="-122"/>
                <a:cs typeface="Corben" pitchFamily="34" charset="-120"/>
              </a:rPr>
              <a:t>2021: $394.8 Billion USD</a:t>
            </a:r>
            <a:endParaRPr lang="en-US" sz="1650" dirty="0"/>
          </a:p>
        </p:txBody>
      </p:sp>
      <p:sp>
        <p:nvSpPr>
          <p:cNvPr id="11" name="Text 6"/>
          <p:cNvSpPr/>
          <p:nvPr/>
        </p:nvSpPr>
        <p:spPr>
          <a:xfrm>
            <a:off x="2398871" y="5558909"/>
            <a:ext cx="6540341" cy="239792"/>
          </a:xfrm>
          <a:prstGeom prst="rect">
            <a:avLst/>
          </a:prstGeom>
          <a:noFill/>
          <a:ln/>
        </p:spPr>
        <p:txBody>
          <a:bodyPr wrap="none" lIns="0" tIns="0" rIns="0" bIns="0" rtlCol="0" anchor="t"/>
          <a:lstStyle/>
          <a:p>
            <a:pPr marL="0" indent="0" algn="l">
              <a:lnSpc>
                <a:spcPts val="1850"/>
              </a:lnSpc>
              <a:buNone/>
            </a:pPr>
            <a:r>
              <a:rPr lang="en-US" sz="1300" dirty="0">
                <a:solidFill>
                  <a:srgbClr val="404155"/>
                </a:solidFill>
                <a:latin typeface="Nobile" pitchFamily="34" charset="0"/>
                <a:ea typeface="Nobile" pitchFamily="34" charset="-122"/>
                <a:cs typeface="Nobile" pitchFamily="34" charset="-120"/>
              </a:rPr>
              <a:t>79% increase, showcasing global market presence</a:t>
            </a:r>
            <a:endParaRPr lang="en-US" sz="1300" dirty="0"/>
          </a:p>
        </p:txBody>
      </p:sp>
      <p:pic>
        <p:nvPicPr>
          <p:cNvPr id="12" name="Image 3" descr="preencoded.png"/>
          <p:cNvPicPr>
            <a:picLocks noChangeAspect="1"/>
          </p:cNvPicPr>
          <p:nvPr/>
        </p:nvPicPr>
        <p:blipFill>
          <a:blip r:embed="rId6"/>
          <a:stretch>
            <a:fillRect/>
          </a:stretch>
        </p:blipFill>
        <p:spPr>
          <a:xfrm>
            <a:off x="9364028" y="1368385"/>
            <a:ext cx="3859054" cy="5145405"/>
          </a:xfrm>
          <a:prstGeom prst="rect">
            <a:avLst/>
          </a:prstGeom>
        </p:spPr>
      </p:pic>
      <p:sp>
        <p:nvSpPr>
          <p:cNvPr id="13" name="Text 7"/>
          <p:cNvSpPr/>
          <p:nvPr/>
        </p:nvSpPr>
        <p:spPr>
          <a:xfrm>
            <a:off x="9354601" y="6658808"/>
            <a:ext cx="3859054" cy="959168"/>
          </a:xfrm>
          <a:prstGeom prst="rect">
            <a:avLst/>
          </a:prstGeom>
          <a:noFill/>
          <a:ln/>
        </p:spPr>
        <p:txBody>
          <a:bodyPr wrap="square" lIns="0" tIns="0" rIns="0" bIns="0" rtlCol="0" anchor="t"/>
          <a:lstStyle/>
          <a:p>
            <a:pPr marL="0" indent="0" algn="l">
              <a:lnSpc>
                <a:spcPts val="1850"/>
              </a:lnSpc>
              <a:buNone/>
            </a:pPr>
            <a:r>
              <a:rPr lang="en-US" sz="1300" dirty="0">
                <a:solidFill>
                  <a:srgbClr val="404155"/>
                </a:solidFill>
                <a:latin typeface="Nobile" pitchFamily="34" charset="0"/>
                <a:ea typeface="Nobile" pitchFamily="34" charset="-122"/>
                <a:cs typeface="Nobile" pitchFamily="34" charset="-120"/>
              </a:rPr>
              <a:t>This 79% increase reflects India's expanding role in global trade, driven by competitive advantages in pharmaceuticals, IT services, and manufacturing.</a:t>
            </a:r>
            <a:endParaRPr lang="en-US" sz="1300" dirty="0"/>
          </a:p>
        </p:txBody>
      </p:sp>
      <p:sp>
        <p:nvSpPr>
          <p:cNvPr id="14" name="Rectangle 13">
            <a:extLst>
              <a:ext uri="{FF2B5EF4-FFF2-40B4-BE49-F238E27FC236}">
                <a16:creationId xmlns:a16="http://schemas.microsoft.com/office/drawing/2014/main" id="{E7482BFB-F478-4F2D-8FA0-301F2FD4D106}"/>
              </a:ext>
            </a:extLst>
          </p:cNvPr>
          <p:cNvSpPr/>
          <p:nvPr/>
        </p:nvSpPr>
        <p:spPr>
          <a:xfrm>
            <a:off x="12654455" y="7620000"/>
            <a:ext cx="1891862" cy="515007"/>
          </a:xfrm>
          <a:prstGeom prst="rect">
            <a:avLst/>
          </a:prstGeom>
          <a:solidFill>
            <a:srgbClr val="F9F9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ppt_x"/>
                                          </p:val>
                                        </p:tav>
                                        <p:tav tm="100000">
                                          <p:val>
                                            <p:strVal val="#ppt_x"/>
                                          </p:val>
                                        </p:tav>
                                      </p:tavLst>
                                    </p:anim>
                                    <p:anim calcmode="lin" valueType="num">
                                      <p:cBhvr additive="base">
                                        <p:cTn id="29" dur="500" fill="hold"/>
                                        <p:tgtEl>
                                          <p:spTgt spid="6"/>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ppt_x"/>
                                          </p:val>
                                        </p:tav>
                                        <p:tav tm="100000">
                                          <p:val>
                                            <p:strVal val="#ppt_x"/>
                                          </p:val>
                                        </p:tav>
                                      </p:tavLst>
                                    </p:anim>
                                    <p:anim calcmode="lin" valueType="num">
                                      <p:cBhvr additive="base">
                                        <p:cTn id="33" dur="500" fill="hold"/>
                                        <p:tgtEl>
                                          <p:spTgt spid="7"/>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500" fill="hold"/>
                                        <p:tgtEl>
                                          <p:spTgt spid="9"/>
                                        </p:tgtEl>
                                        <p:attrNameLst>
                                          <p:attrName>ppt_x</p:attrName>
                                        </p:attrNameLst>
                                      </p:cBhvr>
                                      <p:tavLst>
                                        <p:tav tm="0">
                                          <p:val>
                                            <p:strVal val="#ppt_x"/>
                                          </p:val>
                                        </p:tav>
                                        <p:tav tm="100000">
                                          <p:val>
                                            <p:strVal val="#ppt_x"/>
                                          </p:val>
                                        </p:tav>
                                      </p:tavLst>
                                    </p:anim>
                                    <p:anim calcmode="lin" valueType="num">
                                      <p:cBhvr additive="base">
                                        <p:cTn id="43" dur="500" fill="hold"/>
                                        <p:tgtEl>
                                          <p:spTgt spid="9"/>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 calcmode="lin" valueType="num">
                                      <p:cBhvr additive="base">
                                        <p:cTn id="46" dur="500" fill="hold"/>
                                        <p:tgtEl>
                                          <p:spTgt spid="10"/>
                                        </p:tgtEl>
                                        <p:attrNameLst>
                                          <p:attrName>ppt_x</p:attrName>
                                        </p:attrNameLst>
                                      </p:cBhvr>
                                      <p:tavLst>
                                        <p:tav tm="0">
                                          <p:val>
                                            <p:strVal val="#ppt_x"/>
                                          </p:val>
                                        </p:tav>
                                        <p:tav tm="100000">
                                          <p:val>
                                            <p:strVal val="#ppt_x"/>
                                          </p:val>
                                        </p:tav>
                                      </p:tavLst>
                                    </p:anim>
                                    <p:anim calcmode="lin" valueType="num">
                                      <p:cBhvr additive="base">
                                        <p:cTn id="47" dur="500" fill="hold"/>
                                        <p:tgtEl>
                                          <p:spTgt spid="10"/>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additive="base">
                                        <p:cTn id="50" dur="500" fill="hold"/>
                                        <p:tgtEl>
                                          <p:spTgt spid="11"/>
                                        </p:tgtEl>
                                        <p:attrNameLst>
                                          <p:attrName>ppt_x</p:attrName>
                                        </p:attrNameLst>
                                      </p:cBhvr>
                                      <p:tavLst>
                                        <p:tav tm="0">
                                          <p:val>
                                            <p:strVal val="#ppt_x"/>
                                          </p:val>
                                        </p:tav>
                                        <p:tav tm="100000">
                                          <p:val>
                                            <p:strVal val="#ppt_x"/>
                                          </p:val>
                                        </p:tav>
                                      </p:tavLst>
                                    </p:anim>
                                    <p:anim calcmode="lin" valueType="num">
                                      <p:cBhvr additive="base">
                                        <p:cTn id="5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69250" y="992267"/>
            <a:ext cx="7805499" cy="1194911"/>
          </a:xfrm>
          <a:prstGeom prst="rect">
            <a:avLst/>
          </a:prstGeom>
          <a:noFill/>
          <a:ln/>
        </p:spPr>
        <p:txBody>
          <a:bodyPr wrap="square" lIns="0" tIns="0" rIns="0" bIns="0" rtlCol="0" anchor="t"/>
          <a:lstStyle/>
          <a:p>
            <a:pPr marL="0" indent="0" algn="l">
              <a:lnSpc>
                <a:spcPts val="4700"/>
              </a:lnSpc>
              <a:buNone/>
            </a:pPr>
            <a:r>
              <a:rPr lang="en-US" sz="3750" dirty="0">
                <a:solidFill>
                  <a:srgbClr val="1B1B27"/>
                </a:solidFill>
                <a:latin typeface="Corben" pitchFamily="34" charset="0"/>
                <a:ea typeface="Corben" pitchFamily="34" charset="-122"/>
                <a:cs typeface="Corben" pitchFamily="34" charset="-120"/>
              </a:rPr>
              <a:t>Imports: A Mirror of Economic Activity</a:t>
            </a:r>
            <a:endParaRPr lang="en-US" sz="3750" dirty="0"/>
          </a:p>
        </p:txBody>
      </p:sp>
      <p:sp>
        <p:nvSpPr>
          <p:cNvPr id="4" name="Shape 1"/>
          <p:cNvSpPr/>
          <p:nvPr/>
        </p:nvSpPr>
        <p:spPr>
          <a:xfrm>
            <a:off x="669250" y="2428994"/>
            <a:ext cx="3822144" cy="2091928"/>
          </a:xfrm>
          <a:prstGeom prst="roundRect">
            <a:avLst>
              <a:gd name="adj" fmla="val 3839"/>
            </a:avLst>
          </a:prstGeom>
          <a:solidFill>
            <a:srgbClr val="D2D9F9"/>
          </a:solidFill>
          <a:ln w="7620">
            <a:solidFill>
              <a:srgbClr val="B8BFDF"/>
            </a:solidFill>
            <a:prstDash val="solid"/>
          </a:ln>
        </p:spPr>
      </p:sp>
      <p:sp>
        <p:nvSpPr>
          <p:cNvPr id="5" name="Shape 2"/>
          <p:cNvSpPr/>
          <p:nvPr/>
        </p:nvSpPr>
        <p:spPr>
          <a:xfrm>
            <a:off x="868085" y="2627828"/>
            <a:ext cx="573643" cy="573643"/>
          </a:xfrm>
          <a:prstGeom prst="roundRect">
            <a:avLst>
              <a:gd name="adj" fmla="val 15938634"/>
            </a:avLst>
          </a:prstGeom>
          <a:solidFill>
            <a:srgbClr val="4967E9"/>
          </a:solidFill>
          <a:ln/>
        </p:spPr>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25843" y="2785586"/>
            <a:ext cx="258128" cy="258128"/>
          </a:xfrm>
          <a:prstGeom prst="rect">
            <a:avLst/>
          </a:prstGeom>
        </p:spPr>
      </p:pic>
      <p:sp>
        <p:nvSpPr>
          <p:cNvPr id="7" name="Text 3"/>
          <p:cNvSpPr/>
          <p:nvPr/>
        </p:nvSpPr>
        <p:spPr>
          <a:xfrm>
            <a:off x="868085" y="3362682"/>
            <a:ext cx="2514362" cy="298847"/>
          </a:xfrm>
          <a:prstGeom prst="rect">
            <a:avLst/>
          </a:prstGeom>
          <a:noFill/>
          <a:ln/>
        </p:spPr>
        <p:txBody>
          <a:bodyPr wrap="none" lIns="0" tIns="0" rIns="0" bIns="0" rtlCol="0" anchor="t"/>
          <a:lstStyle/>
          <a:p>
            <a:pPr marL="0" indent="0" algn="l">
              <a:lnSpc>
                <a:spcPts val="2350"/>
              </a:lnSpc>
              <a:buNone/>
            </a:pPr>
            <a:r>
              <a:rPr lang="en-US" sz="1850" dirty="0">
                <a:solidFill>
                  <a:srgbClr val="404155"/>
                </a:solidFill>
                <a:latin typeface="Corben" pitchFamily="34" charset="0"/>
                <a:ea typeface="Corben" pitchFamily="34" charset="-122"/>
                <a:cs typeface="Corben" pitchFamily="34" charset="-120"/>
              </a:rPr>
              <a:t>Crude Oil Dependency</a:t>
            </a:r>
            <a:endParaRPr lang="en-US" sz="1850" dirty="0"/>
          </a:p>
        </p:txBody>
      </p:sp>
      <p:sp>
        <p:nvSpPr>
          <p:cNvPr id="8" name="Text 4"/>
          <p:cNvSpPr/>
          <p:nvPr/>
        </p:nvSpPr>
        <p:spPr>
          <a:xfrm>
            <a:off x="868085" y="3758208"/>
            <a:ext cx="3424476" cy="563880"/>
          </a:xfrm>
          <a:prstGeom prst="rect">
            <a:avLst/>
          </a:prstGeom>
          <a:noFill/>
          <a:ln/>
        </p:spPr>
        <p:txBody>
          <a:bodyPr wrap="square" lIns="0" tIns="0" rIns="0" bIns="0" rtlCol="0" anchor="t"/>
          <a:lstStyle/>
          <a:p>
            <a:pPr marL="0" indent="0" algn="l">
              <a:lnSpc>
                <a:spcPts val="2200"/>
              </a:lnSpc>
              <a:buNone/>
            </a:pPr>
            <a:r>
              <a:rPr lang="en-US" sz="1500" dirty="0">
                <a:solidFill>
                  <a:srgbClr val="404155"/>
                </a:solidFill>
                <a:latin typeface="Nobile" pitchFamily="34" charset="0"/>
                <a:ea typeface="Nobile" pitchFamily="34" charset="-122"/>
                <a:cs typeface="Nobile" pitchFamily="34" charset="-120"/>
              </a:rPr>
              <a:t>Primary import category, reflecting energy needs</a:t>
            </a:r>
            <a:endParaRPr lang="en-US" sz="1500" dirty="0"/>
          </a:p>
        </p:txBody>
      </p:sp>
      <p:sp>
        <p:nvSpPr>
          <p:cNvPr id="9" name="Shape 5"/>
          <p:cNvSpPr/>
          <p:nvPr/>
        </p:nvSpPr>
        <p:spPr>
          <a:xfrm>
            <a:off x="4652605" y="2428994"/>
            <a:ext cx="3822144" cy="2091928"/>
          </a:xfrm>
          <a:prstGeom prst="roundRect">
            <a:avLst>
              <a:gd name="adj" fmla="val 3839"/>
            </a:avLst>
          </a:prstGeom>
          <a:solidFill>
            <a:srgbClr val="D2D9F9"/>
          </a:solidFill>
          <a:ln w="7620">
            <a:solidFill>
              <a:srgbClr val="B8BFDF"/>
            </a:solidFill>
            <a:prstDash val="solid"/>
          </a:ln>
        </p:spPr>
      </p:sp>
      <p:sp>
        <p:nvSpPr>
          <p:cNvPr id="10" name="Shape 6"/>
          <p:cNvSpPr/>
          <p:nvPr/>
        </p:nvSpPr>
        <p:spPr>
          <a:xfrm>
            <a:off x="4851440" y="2627828"/>
            <a:ext cx="573643" cy="573643"/>
          </a:xfrm>
          <a:prstGeom prst="roundRect">
            <a:avLst>
              <a:gd name="adj" fmla="val 15938634"/>
            </a:avLst>
          </a:prstGeom>
          <a:solidFill>
            <a:srgbClr val="4967E9"/>
          </a:solidFill>
          <a:ln/>
        </p:spPr>
      </p:sp>
      <p:pic>
        <p:nvPicPr>
          <p:cNvPr id="11" name="Image 2" descr="preencoded.png"/>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5009198" y="2785586"/>
            <a:ext cx="258128" cy="258128"/>
          </a:xfrm>
          <a:prstGeom prst="rect">
            <a:avLst/>
          </a:prstGeom>
        </p:spPr>
      </p:pic>
      <p:sp>
        <p:nvSpPr>
          <p:cNvPr id="12" name="Text 7"/>
          <p:cNvSpPr/>
          <p:nvPr/>
        </p:nvSpPr>
        <p:spPr>
          <a:xfrm>
            <a:off x="4851440" y="3362682"/>
            <a:ext cx="2414588" cy="298847"/>
          </a:xfrm>
          <a:prstGeom prst="rect">
            <a:avLst/>
          </a:prstGeom>
          <a:noFill/>
          <a:ln/>
        </p:spPr>
        <p:txBody>
          <a:bodyPr wrap="none" lIns="0" tIns="0" rIns="0" bIns="0" rtlCol="0" anchor="t"/>
          <a:lstStyle/>
          <a:p>
            <a:pPr marL="0" indent="0" algn="l">
              <a:lnSpc>
                <a:spcPts val="2350"/>
              </a:lnSpc>
              <a:buNone/>
            </a:pPr>
            <a:r>
              <a:rPr lang="en-US" sz="1850" dirty="0">
                <a:solidFill>
                  <a:srgbClr val="404155"/>
                </a:solidFill>
                <a:latin typeface="Corben" pitchFamily="34" charset="0"/>
                <a:ea typeface="Corben" pitchFamily="34" charset="-122"/>
                <a:cs typeface="Corben" pitchFamily="34" charset="-120"/>
              </a:rPr>
              <a:t>Industrial Equipment</a:t>
            </a:r>
            <a:endParaRPr lang="en-US" sz="1850" dirty="0"/>
          </a:p>
        </p:txBody>
      </p:sp>
      <p:sp>
        <p:nvSpPr>
          <p:cNvPr id="13" name="Text 8"/>
          <p:cNvSpPr/>
          <p:nvPr/>
        </p:nvSpPr>
        <p:spPr>
          <a:xfrm>
            <a:off x="4851440" y="3758208"/>
            <a:ext cx="3424476" cy="563880"/>
          </a:xfrm>
          <a:prstGeom prst="rect">
            <a:avLst/>
          </a:prstGeom>
          <a:noFill/>
          <a:ln/>
        </p:spPr>
        <p:txBody>
          <a:bodyPr wrap="square" lIns="0" tIns="0" rIns="0" bIns="0" rtlCol="0" anchor="t"/>
          <a:lstStyle/>
          <a:p>
            <a:pPr marL="0" indent="0" algn="l">
              <a:lnSpc>
                <a:spcPts val="2200"/>
              </a:lnSpc>
              <a:buNone/>
            </a:pPr>
            <a:r>
              <a:rPr lang="en-US" sz="1500" dirty="0">
                <a:solidFill>
                  <a:srgbClr val="404155"/>
                </a:solidFill>
                <a:latin typeface="Nobile" pitchFamily="34" charset="0"/>
                <a:ea typeface="Nobile" pitchFamily="34" charset="-122"/>
                <a:cs typeface="Nobile" pitchFamily="34" charset="-120"/>
              </a:rPr>
              <a:t>Machinery and electronics fueling manufacturing growth</a:t>
            </a:r>
            <a:endParaRPr lang="en-US" sz="1500" dirty="0"/>
          </a:p>
        </p:txBody>
      </p:sp>
      <p:sp>
        <p:nvSpPr>
          <p:cNvPr id="14" name="Shape 9"/>
          <p:cNvSpPr/>
          <p:nvPr/>
        </p:nvSpPr>
        <p:spPr>
          <a:xfrm>
            <a:off x="669250" y="4682133"/>
            <a:ext cx="7805499" cy="1809988"/>
          </a:xfrm>
          <a:prstGeom prst="roundRect">
            <a:avLst>
              <a:gd name="adj" fmla="val 4438"/>
            </a:avLst>
          </a:prstGeom>
          <a:solidFill>
            <a:srgbClr val="D2D9F9"/>
          </a:solidFill>
          <a:ln w="7620">
            <a:solidFill>
              <a:srgbClr val="B8BFDF"/>
            </a:solidFill>
            <a:prstDash val="solid"/>
          </a:ln>
        </p:spPr>
      </p:sp>
      <p:sp>
        <p:nvSpPr>
          <p:cNvPr id="15" name="Shape 10"/>
          <p:cNvSpPr/>
          <p:nvPr/>
        </p:nvSpPr>
        <p:spPr>
          <a:xfrm>
            <a:off x="868085" y="4880967"/>
            <a:ext cx="573643" cy="573643"/>
          </a:xfrm>
          <a:prstGeom prst="roundRect">
            <a:avLst>
              <a:gd name="adj" fmla="val 15938634"/>
            </a:avLst>
          </a:prstGeom>
          <a:solidFill>
            <a:srgbClr val="4967E9"/>
          </a:solidFill>
          <a:ln/>
        </p:spPr>
      </p:sp>
      <p:pic>
        <p:nvPicPr>
          <p:cNvPr id="16" name="Image 3" descr="preencoded.png"/>
          <p:cNvPicPr>
            <a:picLocks noChangeAspect="1"/>
          </p:cNvPicPr>
          <p:nvPr/>
        </p:nvPicPr>
        <p:blipFill>
          <a:blip r:embed="rId4">
            <a:extLst>
              <a:ext uri="{96DAC541-7B7A-43D3-8B79-37D633B846F1}">
                <asvg:svgBlip xmlns:asvg="http://schemas.microsoft.com/office/drawing/2016/SVG/main" r:embed="rId7"/>
              </a:ext>
            </a:extLst>
          </a:blip>
          <a:stretch>
            <a:fillRect/>
          </a:stretch>
        </p:blipFill>
        <p:spPr>
          <a:xfrm>
            <a:off x="1025843" y="5038725"/>
            <a:ext cx="258128" cy="258128"/>
          </a:xfrm>
          <a:prstGeom prst="rect">
            <a:avLst/>
          </a:prstGeom>
        </p:spPr>
      </p:pic>
      <p:sp>
        <p:nvSpPr>
          <p:cNvPr id="17" name="Text 11"/>
          <p:cNvSpPr/>
          <p:nvPr/>
        </p:nvSpPr>
        <p:spPr>
          <a:xfrm>
            <a:off x="868085" y="5615821"/>
            <a:ext cx="2390418" cy="298847"/>
          </a:xfrm>
          <a:prstGeom prst="rect">
            <a:avLst/>
          </a:prstGeom>
          <a:noFill/>
          <a:ln/>
        </p:spPr>
        <p:txBody>
          <a:bodyPr wrap="none" lIns="0" tIns="0" rIns="0" bIns="0" rtlCol="0" anchor="t"/>
          <a:lstStyle/>
          <a:p>
            <a:pPr marL="0" indent="0" algn="l">
              <a:lnSpc>
                <a:spcPts val="2350"/>
              </a:lnSpc>
              <a:buNone/>
            </a:pPr>
            <a:r>
              <a:rPr lang="en-US" sz="1850" dirty="0">
                <a:solidFill>
                  <a:srgbClr val="404155"/>
                </a:solidFill>
                <a:latin typeface="Corben" pitchFamily="34" charset="0"/>
                <a:ea typeface="Corben" pitchFamily="34" charset="-122"/>
                <a:cs typeface="Corben" pitchFamily="34" charset="-120"/>
              </a:rPr>
              <a:t>Precious Materials</a:t>
            </a:r>
            <a:endParaRPr lang="en-US" sz="1850" dirty="0"/>
          </a:p>
        </p:txBody>
      </p:sp>
      <p:sp>
        <p:nvSpPr>
          <p:cNvPr id="18" name="Text 12"/>
          <p:cNvSpPr/>
          <p:nvPr/>
        </p:nvSpPr>
        <p:spPr>
          <a:xfrm>
            <a:off x="868085" y="6011347"/>
            <a:ext cx="7407831" cy="281940"/>
          </a:xfrm>
          <a:prstGeom prst="rect">
            <a:avLst/>
          </a:prstGeom>
          <a:noFill/>
          <a:ln/>
        </p:spPr>
        <p:txBody>
          <a:bodyPr wrap="none" lIns="0" tIns="0" rIns="0" bIns="0" rtlCol="0" anchor="t"/>
          <a:lstStyle/>
          <a:p>
            <a:pPr marL="0" indent="0" algn="l">
              <a:lnSpc>
                <a:spcPts val="2200"/>
              </a:lnSpc>
              <a:buNone/>
            </a:pPr>
            <a:r>
              <a:rPr lang="en-US" sz="1500" dirty="0">
                <a:solidFill>
                  <a:srgbClr val="404155"/>
                </a:solidFill>
                <a:latin typeface="Nobile" pitchFamily="34" charset="0"/>
                <a:ea typeface="Nobile" pitchFamily="34" charset="-122"/>
                <a:cs typeface="Nobile" pitchFamily="34" charset="-120"/>
              </a:rPr>
              <a:t>Gems, jewelry, and gold supporting domestic demand</a:t>
            </a:r>
            <a:endParaRPr lang="en-US" sz="1500" dirty="0"/>
          </a:p>
        </p:txBody>
      </p:sp>
      <p:sp>
        <p:nvSpPr>
          <p:cNvPr id="19" name="Text 13"/>
          <p:cNvSpPr/>
          <p:nvPr/>
        </p:nvSpPr>
        <p:spPr>
          <a:xfrm>
            <a:off x="669250" y="6673453"/>
            <a:ext cx="7805499" cy="563880"/>
          </a:xfrm>
          <a:prstGeom prst="rect">
            <a:avLst/>
          </a:prstGeom>
          <a:noFill/>
          <a:ln/>
        </p:spPr>
        <p:txBody>
          <a:bodyPr wrap="square" lIns="0" tIns="0" rIns="0" bIns="0" rtlCol="0" anchor="t"/>
          <a:lstStyle/>
          <a:p>
            <a:pPr marL="0" indent="0" algn="l">
              <a:lnSpc>
                <a:spcPts val="2200"/>
              </a:lnSpc>
              <a:buNone/>
            </a:pPr>
            <a:r>
              <a:rPr lang="en-US" sz="1500" dirty="0">
                <a:solidFill>
                  <a:srgbClr val="404155"/>
                </a:solidFill>
                <a:latin typeface="Nobile" pitchFamily="34" charset="0"/>
                <a:ea typeface="Nobile" pitchFamily="34" charset="-122"/>
                <a:cs typeface="Nobile" pitchFamily="34" charset="-120"/>
              </a:rPr>
              <a:t>From $350.0 billion in 2010 to $570.4 billion in 2021, imports grew 63%, mirroring India's industrial expansion and rising consumer demand.</a:t>
            </a:r>
            <a:endParaRPr lang="en-US"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996202"/>
            <a:ext cx="10744081"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Corben" pitchFamily="34" charset="0"/>
                <a:ea typeface="Corben" pitchFamily="34" charset="-122"/>
                <a:cs typeface="Corben" pitchFamily="34" charset="-120"/>
              </a:rPr>
              <a:t>The Trade Deficit: A Persistent Challenge</a:t>
            </a:r>
            <a:endParaRPr lang="en-US" sz="4450" dirty="0"/>
          </a:p>
        </p:txBody>
      </p:sp>
      <p:sp>
        <p:nvSpPr>
          <p:cNvPr id="3" name="Text 1"/>
          <p:cNvSpPr/>
          <p:nvPr/>
        </p:nvSpPr>
        <p:spPr>
          <a:xfrm>
            <a:off x="793790" y="3158609"/>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Throughout the decade, India maintained a trade deficit as imports consistently outpaced exports. While the gap widened in absolute terms, strategic initiatives sought to address this imbalance.</a:t>
            </a:r>
            <a:endParaRPr lang="en-US" sz="1750" dirty="0"/>
          </a:p>
        </p:txBody>
      </p:sp>
      <p:sp>
        <p:nvSpPr>
          <p:cNvPr id="4" name="Shape 2"/>
          <p:cNvSpPr/>
          <p:nvPr/>
        </p:nvSpPr>
        <p:spPr>
          <a:xfrm>
            <a:off x="793790" y="4139565"/>
            <a:ext cx="4196358" cy="2093714"/>
          </a:xfrm>
          <a:prstGeom prst="roundRect">
            <a:avLst>
              <a:gd name="adj" fmla="val 6988"/>
            </a:avLst>
          </a:prstGeom>
          <a:solidFill>
            <a:srgbClr val="F9F9FF">
              <a:alpha val="95000"/>
            </a:srgbClr>
          </a:solidFill>
          <a:ln w="30480">
            <a:solidFill>
              <a:srgbClr val="B8BFDF"/>
            </a:solidFill>
            <a:prstDash val="solid"/>
          </a:ln>
        </p:spPr>
      </p:sp>
      <p:sp>
        <p:nvSpPr>
          <p:cNvPr id="5" name="Shape 3"/>
          <p:cNvSpPr/>
          <p:nvPr/>
        </p:nvSpPr>
        <p:spPr>
          <a:xfrm>
            <a:off x="763310" y="4139565"/>
            <a:ext cx="121920" cy="2093714"/>
          </a:xfrm>
          <a:prstGeom prst="roundRect">
            <a:avLst>
              <a:gd name="adj" fmla="val 78139"/>
            </a:avLst>
          </a:prstGeom>
          <a:solidFill>
            <a:srgbClr val="4967E9"/>
          </a:solidFill>
          <a:ln/>
        </p:spPr>
      </p:sp>
      <p:sp>
        <p:nvSpPr>
          <p:cNvPr id="6" name="Text 4"/>
          <p:cNvSpPr/>
          <p:nvPr/>
        </p:nvSpPr>
        <p:spPr>
          <a:xfrm>
            <a:off x="1142524" y="439685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2010-2015</a:t>
            </a:r>
            <a:endParaRPr lang="en-US" sz="2200" dirty="0"/>
          </a:p>
        </p:txBody>
      </p:sp>
      <p:sp>
        <p:nvSpPr>
          <p:cNvPr id="7" name="Text 5"/>
          <p:cNvSpPr/>
          <p:nvPr/>
        </p:nvSpPr>
        <p:spPr>
          <a:xfrm>
            <a:off x="1142524" y="4887278"/>
            <a:ext cx="3590330" cy="1088708"/>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Deficit stabilized around $130-150B as export diversification began</a:t>
            </a:r>
            <a:endParaRPr lang="en-US" sz="1750" dirty="0"/>
          </a:p>
        </p:txBody>
      </p:sp>
      <p:sp>
        <p:nvSpPr>
          <p:cNvPr id="8" name="Shape 6"/>
          <p:cNvSpPr/>
          <p:nvPr/>
        </p:nvSpPr>
        <p:spPr>
          <a:xfrm>
            <a:off x="5216962" y="4139565"/>
            <a:ext cx="4196358" cy="2093714"/>
          </a:xfrm>
          <a:prstGeom prst="roundRect">
            <a:avLst>
              <a:gd name="adj" fmla="val 6988"/>
            </a:avLst>
          </a:prstGeom>
          <a:solidFill>
            <a:srgbClr val="F9F9FF">
              <a:alpha val="95000"/>
            </a:srgbClr>
          </a:solidFill>
          <a:ln w="30480">
            <a:solidFill>
              <a:srgbClr val="B8BFDF"/>
            </a:solidFill>
            <a:prstDash val="solid"/>
          </a:ln>
        </p:spPr>
      </p:sp>
      <p:sp>
        <p:nvSpPr>
          <p:cNvPr id="9" name="Shape 7"/>
          <p:cNvSpPr/>
          <p:nvPr/>
        </p:nvSpPr>
        <p:spPr>
          <a:xfrm>
            <a:off x="5186482" y="4139565"/>
            <a:ext cx="121920" cy="2093714"/>
          </a:xfrm>
          <a:prstGeom prst="roundRect">
            <a:avLst>
              <a:gd name="adj" fmla="val 78139"/>
            </a:avLst>
          </a:prstGeom>
          <a:solidFill>
            <a:srgbClr val="4967E9"/>
          </a:solidFill>
          <a:ln/>
        </p:spPr>
      </p:sp>
      <p:sp>
        <p:nvSpPr>
          <p:cNvPr id="10" name="Text 8"/>
          <p:cNvSpPr/>
          <p:nvPr/>
        </p:nvSpPr>
        <p:spPr>
          <a:xfrm>
            <a:off x="5565696" y="439685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2016-2020</a:t>
            </a:r>
            <a:endParaRPr lang="en-US" sz="2200" dirty="0"/>
          </a:p>
        </p:txBody>
      </p:sp>
      <p:sp>
        <p:nvSpPr>
          <p:cNvPr id="11" name="Text 9"/>
          <p:cNvSpPr/>
          <p:nvPr/>
        </p:nvSpPr>
        <p:spPr>
          <a:xfrm>
            <a:off x="5565696" y="4887278"/>
            <a:ext cx="3590330" cy="725805"/>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Fluctuated with global oil prices and policy changes</a:t>
            </a:r>
            <a:endParaRPr lang="en-US" sz="1750" dirty="0"/>
          </a:p>
        </p:txBody>
      </p:sp>
      <p:sp>
        <p:nvSpPr>
          <p:cNvPr id="12" name="Shape 10"/>
          <p:cNvSpPr/>
          <p:nvPr/>
        </p:nvSpPr>
        <p:spPr>
          <a:xfrm>
            <a:off x="9640133" y="4139565"/>
            <a:ext cx="4196358" cy="2093714"/>
          </a:xfrm>
          <a:prstGeom prst="roundRect">
            <a:avLst>
              <a:gd name="adj" fmla="val 6988"/>
            </a:avLst>
          </a:prstGeom>
          <a:solidFill>
            <a:srgbClr val="F9F9FF">
              <a:alpha val="95000"/>
            </a:srgbClr>
          </a:solidFill>
          <a:ln w="30480">
            <a:solidFill>
              <a:srgbClr val="B8BFDF"/>
            </a:solidFill>
            <a:prstDash val="solid"/>
          </a:ln>
        </p:spPr>
      </p:sp>
      <p:sp>
        <p:nvSpPr>
          <p:cNvPr id="13" name="Shape 11"/>
          <p:cNvSpPr/>
          <p:nvPr/>
        </p:nvSpPr>
        <p:spPr>
          <a:xfrm>
            <a:off x="9609653" y="4139565"/>
            <a:ext cx="121920" cy="2093714"/>
          </a:xfrm>
          <a:prstGeom prst="roundRect">
            <a:avLst>
              <a:gd name="adj" fmla="val 78139"/>
            </a:avLst>
          </a:prstGeom>
          <a:solidFill>
            <a:srgbClr val="4967E9"/>
          </a:solidFill>
          <a:ln/>
        </p:spPr>
      </p:sp>
      <p:sp>
        <p:nvSpPr>
          <p:cNvPr id="14" name="Text 12"/>
          <p:cNvSpPr/>
          <p:nvPr/>
        </p:nvSpPr>
        <p:spPr>
          <a:xfrm>
            <a:off x="9988868" y="439685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2021</a:t>
            </a:r>
            <a:endParaRPr lang="en-US" sz="2200" dirty="0"/>
          </a:p>
        </p:txBody>
      </p:sp>
      <p:sp>
        <p:nvSpPr>
          <p:cNvPr id="15" name="Text 13"/>
          <p:cNvSpPr/>
          <p:nvPr/>
        </p:nvSpPr>
        <p:spPr>
          <a:xfrm>
            <a:off x="9988868" y="4887278"/>
            <a:ext cx="3590330" cy="1088708"/>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Deficit reached $175.6B, prompting renewed export promotion efforts</a:t>
            </a:r>
            <a:endParaRPr lang="en-US" sz="1750" dirty="0"/>
          </a:p>
        </p:txBody>
      </p:sp>
      <p:sp>
        <p:nvSpPr>
          <p:cNvPr id="16" name="Rectangle 15">
            <a:extLst>
              <a:ext uri="{FF2B5EF4-FFF2-40B4-BE49-F238E27FC236}">
                <a16:creationId xmlns:a16="http://schemas.microsoft.com/office/drawing/2014/main" id="{B9728C19-6AEB-4DF9-8E12-8092382EE788}"/>
              </a:ext>
            </a:extLst>
          </p:cNvPr>
          <p:cNvSpPr/>
          <p:nvPr/>
        </p:nvSpPr>
        <p:spPr>
          <a:xfrm>
            <a:off x="12654455" y="7620000"/>
            <a:ext cx="1891862" cy="515007"/>
          </a:xfrm>
          <a:prstGeom prst="rect">
            <a:avLst/>
          </a:prstGeom>
          <a:solidFill>
            <a:srgbClr val="F9F9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7" presetClass="entr" presetSubtype="0"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1000"/>
                                        <p:tgtEl>
                                          <p:spTgt spid="4"/>
                                        </p:tgtEl>
                                      </p:cBhvr>
                                    </p:animEffect>
                                    <p:anim calcmode="lin" valueType="num">
                                      <p:cBhvr>
                                        <p:cTn id="23" dur="1000" fill="hold"/>
                                        <p:tgtEl>
                                          <p:spTgt spid="4"/>
                                        </p:tgtEl>
                                        <p:attrNameLst>
                                          <p:attrName>ppt_x</p:attrName>
                                        </p:attrNameLst>
                                      </p:cBhvr>
                                      <p:tavLst>
                                        <p:tav tm="0">
                                          <p:val>
                                            <p:strVal val="#ppt_x"/>
                                          </p:val>
                                        </p:tav>
                                        <p:tav tm="100000">
                                          <p:val>
                                            <p:strVal val="#ppt_x"/>
                                          </p:val>
                                        </p:tav>
                                      </p:tavLst>
                                    </p:anim>
                                    <p:anim calcmode="lin" valueType="num">
                                      <p:cBhvr>
                                        <p:cTn id="2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7"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par>
                                <p:cTn id="32" presetID="47"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anim calcmode="lin" valueType="num">
                                      <p:cBhvr>
                                        <p:cTn id="35" dur="1000" fill="hold"/>
                                        <p:tgtEl>
                                          <p:spTgt spid="10"/>
                                        </p:tgtEl>
                                        <p:attrNameLst>
                                          <p:attrName>ppt_x</p:attrName>
                                        </p:attrNameLst>
                                      </p:cBhvr>
                                      <p:tavLst>
                                        <p:tav tm="0">
                                          <p:val>
                                            <p:strVal val="#ppt_x"/>
                                          </p:val>
                                        </p:tav>
                                        <p:tav tm="100000">
                                          <p:val>
                                            <p:strVal val="#ppt_x"/>
                                          </p:val>
                                        </p:tav>
                                      </p:tavLst>
                                    </p:anim>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par>
                                <p:cTn id="37" presetID="47"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anim calcmode="lin" valueType="num">
                                      <p:cBhvr>
                                        <p:cTn id="40" dur="1000" fill="hold"/>
                                        <p:tgtEl>
                                          <p:spTgt spid="11"/>
                                        </p:tgtEl>
                                        <p:attrNameLst>
                                          <p:attrName>ppt_x</p:attrName>
                                        </p:attrNameLst>
                                      </p:cBhvr>
                                      <p:tavLst>
                                        <p:tav tm="0">
                                          <p:val>
                                            <p:strVal val="#ppt_x"/>
                                          </p:val>
                                        </p:tav>
                                        <p:tav tm="100000">
                                          <p:val>
                                            <p:strVal val="#ppt_x"/>
                                          </p:val>
                                        </p:tav>
                                      </p:tavLst>
                                    </p:anim>
                                    <p:anim calcmode="lin" valueType="num">
                                      <p:cBhvr>
                                        <p:cTn id="41" dur="1000" fill="hold"/>
                                        <p:tgtEl>
                                          <p:spTgt spid="11"/>
                                        </p:tgtEl>
                                        <p:attrNameLst>
                                          <p:attrName>ppt_y</p:attrName>
                                        </p:attrNameLst>
                                      </p:cBhvr>
                                      <p:tavLst>
                                        <p:tav tm="0">
                                          <p:val>
                                            <p:strVal val="#ppt_y-.1"/>
                                          </p:val>
                                        </p:tav>
                                        <p:tav tm="100000">
                                          <p:val>
                                            <p:strVal val="#ppt_y"/>
                                          </p:val>
                                        </p:tav>
                                      </p:tavLst>
                                    </p:anim>
                                  </p:childTnLst>
                                </p:cTn>
                              </p:par>
                              <p:par>
                                <p:cTn id="42" presetID="47" presetClass="entr" presetSubtype="0" fill="hold"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1000"/>
                                        <p:tgtEl>
                                          <p:spTgt spid="8"/>
                                        </p:tgtEl>
                                      </p:cBhvr>
                                    </p:animEffect>
                                    <p:anim calcmode="lin" valueType="num">
                                      <p:cBhvr>
                                        <p:cTn id="45" dur="1000" fill="hold"/>
                                        <p:tgtEl>
                                          <p:spTgt spid="8"/>
                                        </p:tgtEl>
                                        <p:attrNameLst>
                                          <p:attrName>ppt_x</p:attrName>
                                        </p:attrNameLst>
                                      </p:cBhvr>
                                      <p:tavLst>
                                        <p:tav tm="0">
                                          <p:val>
                                            <p:strVal val="#ppt_x"/>
                                          </p:val>
                                        </p:tav>
                                        <p:tav tm="100000">
                                          <p:val>
                                            <p:strVal val="#ppt_x"/>
                                          </p:val>
                                        </p:tav>
                                      </p:tavLst>
                                    </p:anim>
                                    <p:anim calcmode="lin" valueType="num">
                                      <p:cBhvr>
                                        <p:cTn id="4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7" presetClass="entr" presetSubtype="0" fill="hold"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1000"/>
                                        <p:tgtEl>
                                          <p:spTgt spid="12"/>
                                        </p:tgtEl>
                                      </p:cBhvr>
                                    </p:animEffect>
                                    <p:anim calcmode="lin" valueType="num">
                                      <p:cBhvr>
                                        <p:cTn id="52" dur="1000" fill="hold"/>
                                        <p:tgtEl>
                                          <p:spTgt spid="12"/>
                                        </p:tgtEl>
                                        <p:attrNameLst>
                                          <p:attrName>ppt_x</p:attrName>
                                        </p:attrNameLst>
                                      </p:cBhvr>
                                      <p:tavLst>
                                        <p:tav tm="0">
                                          <p:val>
                                            <p:strVal val="#ppt_x"/>
                                          </p:val>
                                        </p:tav>
                                        <p:tav tm="100000">
                                          <p:val>
                                            <p:strVal val="#ppt_x"/>
                                          </p:val>
                                        </p:tav>
                                      </p:tavLst>
                                    </p:anim>
                                    <p:anim calcmode="lin" valueType="num">
                                      <p:cBhvr>
                                        <p:cTn id="53" dur="1000" fill="hold"/>
                                        <p:tgtEl>
                                          <p:spTgt spid="12"/>
                                        </p:tgtEl>
                                        <p:attrNameLst>
                                          <p:attrName>ppt_y</p:attrName>
                                        </p:attrNameLst>
                                      </p:cBhvr>
                                      <p:tavLst>
                                        <p:tav tm="0">
                                          <p:val>
                                            <p:strVal val="#ppt_y-.1"/>
                                          </p:val>
                                        </p:tav>
                                        <p:tav tm="100000">
                                          <p:val>
                                            <p:strVal val="#ppt_y"/>
                                          </p:val>
                                        </p:tav>
                                      </p:tavLst>
                                    </p:anim>
                                  </p:childTnLst>
                                </p:cTn>
                              </p:par>
                              <p:par>
                                <p:cTn id="54" presetID="47" presetClass="entr" presetSubtype="0" fill="hold" nodeType="with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1000"/>
                                        <p:tgtEl>
                                          <p:spTgt spid="13"/>
                                        </p:tgtEl>
                                      </p:cBhvr>
                                    </p:animEffect>
                                    <p:anim calcmode="lin" valueType="num">
                                      <p:cBhvr>
                                        <p:cTn id="57" dur="1000" fill="hold"/>
                                        <p:tgtEl>
                                          <p:spTgt spid="13"/>
                                        </p:tgtEl>
                                        <p:attrNameLst>
                                          <p:attrName>ppt_x</p:attrName>
                                        </p:attrNameLst>
                                      </p:cBhvr>
                                      <p:tavLst>
                                        <p:tav tm="0">
                                          <p:val>
                                            <p:strVal val="#ppt_x"/>
                                          </p:val>
                                        </p:tav>
                                        <p:tav tm="100000">
                                          <p:val>
                                            <p:strVal val="#ppt_x"/>
                                          </p:val>
                                        </p:tav>
                                      </p:tavLst>
                                    </p:anim>
                                    <p:anim calcmode="lin" valueType="num">
                                      <p:cBhvr>
                                        <p:cTn id="58" dur="1000" fill="hold"/>
                                        <p:tgtEl>
                                          <p:spTgt spid="13"/>
                                        </p:tgtEl>
                                        <p:attrNameLst>
                                          <p:attrName>ppt_y</p:attrName>
                                        </p:attrNameLst>
                                      </p:cBhvr>
                                      <p:tavLst>
                                        <p:tav tm="0">
                                          <p:val>
                                            <p:strVal val="#ppt_y-.1"/>
                                          </p:val>
                                        </p:tav>
                                        <p:tav tm="100000">
                                          <p:val>
                                            <p:strVal val="#ppt_y"/>
                                          </p:val>
                                        </p:tav>
                                      </p:tavLst>
                                    </p:anim>
                                  </p:childTnLst>
                                </p:cTn>
                              </p:par>
                              <p:par>
                                <p:cTn id="59" presetID="47"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1000"/>
                                        <p:tgtEl>
                                          <p:spTgt spid="14"/>
                                        </p:tgtEl>
                                      </p:cBhvr>
                                    </p:animEffect>
                                    <p:anim calcmode="lin" valueType="num">
                                      <p:cBhvr>
                                        <p:cTn id="62" dur="1000" fill="hold"/>
                                        <p:tgtEl>
                                          <p:spTgt spid="14"/>
                                        </p:tgtEl>
                                        <p:attrNameLst>
                                          <p:attrName>ppt_x</p:attrName>
                                        </p:attrNameLst>
                                      </p:cBhvr>
                                      <p:tavLst>
                                        <p:tav tm="0">
                                          <p:val>
                                            <p:strVal val="#ppt_x"/>
                                          </p:val>
                                        </p:tav>
                                        <p:tav tm="100000">
                                          <p:val>
                                            <p:strVal val="#ppt_x"/>
                                          </p:val>
                                        </p:tav>
                                      </p:tavLst>
                                    </p:anim>
                                    <p:anim calcmode="lin" valueType="num">
                                      <p:cBhvr>
                                        <p:cTn id="63" dur="1000" fill="hold"/>
                                        <p:tgtEl>
                                          <p:spTgt spid="14"/>
                                        </p:tgtEl>
                                        <p:attrNameLst>
                                          <p:attrName>ppt_y</p:attrName>
                                        </p:attrNameLst>
                                      </p:cBhvr>
                                      <p:tavLst>
                                        <p:tav tm="0">
                                          <p:val>
                                            <p:strVal val="#ppt_y-.1"/>
                                          </p:val>
                                        </p:tav>
                                        <p:tav tm="100000">
                                          <p:val>
                                            <p:strVal val="#ppt_y"/>
                                          </p:val>
                                        </p:tav>
                                      </p:tavLst>
                                    </p:anim>
                                  </p:childTnLst>
                                </p:cTn>
                              </p:par>
                              <p:par>
                                <p:cTn id="64" presetID="47" presetClass="entr" presetSubtype="0"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1000"/>
                                        <p:tgtEl>
                                          <p:spTgt spid="15"/>
                                        </p:tgtEl>
                                      </p:cBhvr>
                                    </p:animEffect>
                                    <p:anim calcmode="lin" valueType="num">
                                      <p:cBhvr>
                                        <p:cTn id="67" dur="1000" fill="hold"/>
                                        <p:tgtEl>
                                          <p:spTgt spid="15"/>
                                        </p:tgtEl>
                                        <p:attrNameLst>
                                          <p:attrName>ppt_x</p:attrName>
                                        </p:attrNameLst>
                                      </p:cBhvr>
                                      <p:tavLst>
                                        <p:tav tm="0">
                                          <p:val>
                                            <p:strVal val="#ppt_x"/>
                                          </p:val>
                                        </p:tav>
                                        <p:tav tm="100000">
                                          <p:val>
                                            <p:strVal val="#ppt_x"/>
                                          </p:val>
                                        </p:tav>
                                      </p:tavLst>
                                    </p:anim>
                                    <p:anim calcmode="lin" valueType="num">
                                      <p:cBhvr>
                                        <p:cTn id="68"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1" grpId="0" animBg="1"/>
      <p:bldP spid="14" grpId="0" animBg="1"/>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240155"/>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1B1B27"/>
                </a:solidFill>
                <a:latin typeface="Corben" pitchFamily="34" charset="0"/>
                <a:ea typeface="Corben" pitchFamily="34" charset="-122"/>
                <a:cs typeface="Corben" pitchFamily="34" charset="-120"/>
              </a:rPr>
              <a:t>Shifting Trade Partners: Who are India's Key Allies?</a:t>
            </a:r>
            <a:endParaRPr lang="en-US" sz="4450" dirty="0"/>
          </a:p>
        </p:txBody>
      </p:sp>
      <p:sp>
        <p:nvSpPr>
          <p:cNvPr id="3" name="Text 1"/>
          <p:cNvSpPr/>
          <p:nvPr/>
        </p:nvSpPr>
        <p:spPr>
          <a:xfrm>
            <a:off x="793790" y="3224689"/>
            <a:ext cx="3862030" cy="425291"/>
          </a:xfrm>
          <a:prstGeom prst="rect">
            <a:avLst/>
          </a:prstGeom>
          <a:noFill/>
          <a:ln/>
        </p:spPr>
        <p:txBody>
          <a:bodyPr wrap="none" lIns="0" tIns="0" rIns="0" bIns="0" rtlCol="0" anchor="t"/>
          <a:lstStyle/>
          <a:p>
            <a:pPr marL="0" indent="0" algn="l">
              <a:lnSpc>
                <a:spcPts val="3300"/>
              </a:lnSpc>
              <a:buNone/>
            </a:pPr>
            <a:r>
              <a:rPr lang="en-US" sz="2650" dirty="0">
                <a:solidFill>
                  <a:srgbClr val="1B1B27"/>
                </a:solidFill>
                <a:latin typeface="Corben" pitchFamily="34" charset="0"/>
                <a:ea typeface="Corben" pitchFamily="34" charset="-122"/>
                <a:cs typeface="Corben" pitchFamily="34" charset="-120"/>
              </a:rPr>
              <a:t>Top Export Destinations</a:t>
            </a:r>
            <a:endParaRPr lang="en-US" sz="2650" dirty="0"/>
          </a:p>
        </p:txBody>
      </p:sp>
      <p:sp>
        <p:nvSpPr>
          <p:cNvPr id="4" name="Text 2"/>
          <p:cNvSpPr/>
          <p:nvPr/>
        </p:nvSpPr>
        <p:spPr>
          <a:xfrm>
            <a:off x="793790" y="3876794"/>
            <a:ext cx="6244709" cy="205239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United States: Steady growth in pharmaceuticals and IT services</a:t>
            </a:r>
            <a:endParaRPr lang="en-US" sz="1750" dirty="0"/>
          </a:p>
          <a:p>
            <a:pPr marL="342900" indent="-342900" algn="l">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China: Increasing exports of textiles and machinery</a:t>
            </a:r>
            <a:endParaRPr lang="en-US" sz="1750" dirty="0"/>
          </a:p>
          <a:p>
            <a:pPr marL="342900" indent="-342900" algn="l">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UAE: Traditional partner for gems and jewelry</a:t>
            </a:r>
            <a:endParaRPr lang="en-US" sz="1750" dirty="0"/>
          </a:p>
          <a:p>
            <a:pPr marL="342900" indent="-342900" algn="l">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European Union: Diversified product range</a:t>
            </a:r>
            <a:endParaRPr lang="en-US" sz="1750" dirty="0"/>
          </a:p>
        </p:txBody>
      </p:sp>
      <p:sp>
        <p:nvSpPr>
          <p:cNvPr id="5" name="Text 3"/>
          <p:cNvSpPr/>
          <p:nvPr/>
        </p:nvSpPr>
        <p:spPr>
          <a:xfrm>
            <a:off x="7599521" y="3224689"/>
            <a:ext cx="3436382" cy="425291"/>
          </a:xfrm>
          <a:prstGeom prst="rect">
            <a:avLst/>
          </a:prstGeom>
          <a:noFill/>
          <a:ln/>
        </p:spPr>
        <p:txBody>
          <a:bodyPr wrap="none" lIns="0" tIns="0" rIns="0" bIns="0" rtlCol="0" anchor="t"/>
          <a:lstStyle/>
          <a:p>
            <a:pPr marL="0" indent="0" algn="l">
              <a:lnSpc>
                <a:spcPts val="3300"/>
              </a:lnSpc>
              <a:buNone/>
            </a:pPr>
            <a:r>
              <a:rPr lang="en-US" sz="2650" dirty="0">
                <a:solidFill>
                  <a:srgbClr val="1B1B27"/>
                </a:solidFill>
                <a:latin typeface="Corben" pitchFamily="34" charset="0"/>
                <a:ea typeface="Corben" pitchFamily="34" charset="-122"/>
                <a:cs typeface="Corben" pitchFamily="34" charset="-120"/>
              </a:rPr>
              <a:t>Major Import Sources</a:t>
            </a:r>
            <a:endParaRPr lang="en-US" sz="2650" dirty="0"/>
          </a:p>
        </p:txBody>
      </p:sp>
      <p:sp>
        <p:nvSpPr>
          <p:cNvPr id="6" name="Text 4"/>
          <p:cNvSpPr/>
          <p:nvPr/>
        </p:nvSpPr>
        <p:spPr>
          <a:xfrm>
            <a:off x="7599521" y="3876794"/>
            <a:ext cx="6244709" cy="1689497"/>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China: Dominant source for electronics and machinery</a:t>
            </a:r>
            <a:endParaRPr lang="en-US" sz="1750" dirty="0"/>
          </a:p>
          <a:p>
            <a:pPr marL="342900" indent="-342900" algn="l">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United States: High-tech equipment and aircraft</a:t>
            </a:r>
            <a:endParaRPr lang="en-US" sz="1750" dirty="0"/>
          </a:p>
          <a:p>
            <a:pPr marL="342900" indent="-342900" algn="l">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Saudi Arabia: Crude oil and petroleum products</a:t>
            </a:r>
            <a:endParaRPr lang="en-US" sz="1750" dirty="0"/>
          </a:p>
          <a:p>
            <a:pPr marL="342900" indent="-342900" algn="l">
              <a:lnSpc>
                <a:spcPts val="2850"/>
              </a:lnSpc>
              <a:buSzPct val="100000"/>
              <a:buChar char="•"/>
            </a:pPr>
            <a:r>
              <a:rPr lang="en-US" sz="1750" dirty="0">
                <a:solidFill>
                  <a:srgbClr val="404155"/>
                </a:solidFill>
                <a:latin typeface="Nobile" pitchFamily="34" charset="0"/>
                <a:ea typeface="Nobile" pitchFamily="34" charset="-122"/>
                <a:cs typeface="Nobile" pitchFamily="34" charset="-120"/>
              </a:rPr>
              <a:t>United Arab Emirates: Precious stones and metals</a:t>
            </a:r>
            <a:endParaRPr lang="en-US" sz="1750" dirty="0"/>
          </a:p>
        </p:txBody>
      </p:sp>
      <p:sp>
        <p:nvSpPr>
          <p:cNvPr id="7" name="Text 5"/>
          <p:cNvSpPr/>
          <p:nvPr/>
        </p:nvSpPr>
        <p:spPr>
          <a:xfrm>
            <a:off x="793790" y="6263640"/>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Trade relationships evolved significantly, with China rising as both a key supplier and competitor, while traditional partners like the US strengthened in specific sectors.</a:t>
            </a:r>
            <a:endParaRPr lang="en-US" sz="1750" dirty="0"/>
          </a:p>
        </p:txBody>
      </p:sp>
      <p:sp>
        <p:nvSpPr>
          <p:cNvPr id="8" name="Rectangle 7">
            <a:extLst>
              <a:ext uri="{FF2B5EF4-FFF2-40B4-BE49-F238E27FC236}">
                <a16:creationId xmlns:a16="http://schemas.microsoft.com/office/drawing/2014/main" id="{C7737545-783A-45DF-AE33-6B144B3E07E2}"/>
              </a:ext>
            </a:extLst>
          </p:cNvPr>
          <p:cNvSpPr/>
          <p:nvPr/>
        </p:nvSpPr>
        <p:spPr>
          <a:xfrm>
            <a:off x="12654455" y="7620000"/>
            <a:ext cx="1891862" cy="515007"/>
          </a:xfrm>
          <a:prstGeom prst="rect">
            <a:avLst/>
          </a:prstGeom>
          <a:solidFill>
            <a:srgbClr val="F9F9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173004" y="553164"/>
            <a:ext cx="10147816" cy="556260"/>
          </a:xfrm>
          <a:prstGeom prst="rect">
            <a:avLst/>
          </a:prstGeom>
          <a:noFill/>
          <a:ln/>
        </p:spPr>
        <p:txBody>
          <a:bodyPr wrap="none" lIns="0" tIns="0" rIns="0" bIns="0" rtlCol="0" anchor="t"/>
          <a:lstStyle/>
          <a:p>
            <a:pPr marL="0" indent="0" algn="l">
              <a:lnSpc>
                <a:spcPts val="4350"/>
              </a:lnSpc>
              <a:buNone/>
            </a:pPr>
            <a:r>
              <a:rPr lang="en-US" sz="3500" dirty="0">
                <a:solidFill>
                  <a:srgbClr val="1B1B27"/>
                </a:solidFill>
                <a:latin typeface="Corben" pitchFamily="34" charset="0"/>
                <a:ea typeface="Corben" pitchFamily="34" charset="-122"/>
                <a:cs typeface="Corben" pitchFamily="34" charset="-120"/>
              </a:rPr>
              <a:t>Commodity Spotlight: What India Sells and Buys</a:t>
            </a:r>
            <a:endParaRPr lang="en-US" sz="3500" dirty="0"/>
          </a:p>
        </p:txBody>
      </p:sp>
      <p:pic>
        <p:nvPicPr>
          <p:cNvPr id="3" name="Image 0" descr="preencoded.png"/>
          <p:cNvPicPr>
            <a:picLocks noChangeAspect="1"/>
          </p:cNvPicPr>
          <p:nvPr/>
        </p:nvPicPr>
        <p:blipFill>
          <a:blip r:embed="rId3"/>
          <a:stretch>
            <a:fillRect/>
          </a:stretch>
        </p:blipFill>
        <p:spPr>
          <a:xfrm>
            <a:off x="1173004" y="1388864"/>
            <a:ext cx="1705094" cy="1705094"/>
          </a:xfrm>
          <a:prstGeom prst="rect">
            <a:avLst/>
          </a:prstGeom>
        </p:spPr>
      </p:pic>
      <p:sp>
        <p:nvSpPr>
          <p:cNvPr id="4" name="Text 1"/>
          <p:cNvSpPr/>
          <p:nvPr/>
        </p:nvSpPr>
        <p:spPr>
          <a:xfrm>
            <a:off x="1173004" y="3268623"/>
            <a:ext cx="2225397" cy="278130"/>
          </a:xfrm>
          <a:prstGeom prst="rect">
            <a:avLst/>
          </a:prstGeom>
          <a:noFill/>
          <a:ln/>
        </p:spPr>
        <p:txBody>
          <a:bodyPr wrap="none" lIns="0" tIns="0" rIns="0" bIns="0" rtlCol="0" anchor="t"/>
          <a:lstStyle/>
          <a:p>
            <a:pPr marL="0" indent="0" algn="l">
              <a:lnSpc>
                <a:spcPts val="2150"/>
              </a:lnSpc>
              <a:buNone/>
            </a:pPr>
            <a:r>
              <a:rPr lang="en-US" sz="1750" dirty="0">
                <a:solidFill>
                  <a:srgbClr val="404155"/>
                </a:solidFill>
                <a:latin typeface="Corben" pitchFamily="34" charset="0"/>
                <a:ea typeface="Corben" pitchFamily="34" charset="-122"/>
                <a:cs typeface="Corben" pitchFamily="34" charset="-120"/>
              </a:rPr>
              <a:t>Pharmaceuticals</a:t>
            </a:r>
            <a:endParaRPr lang="en-US" sz="1750" dirty="0"/>
          </a:p>
        </p:txBody>
      </p:sp>
      <p:sp>
        <p:nvSpPr>
          <p:cNvPr id="5" name="Text 2"/>
          <p:cNvSpPr/>
          <p:nvPr/>
        </p:nvSpPr>
        <p:spPr>
          <a:xfrm>
            <a:off x="1173004" y="3630573"/>
            <a:ext cx="2940010" cy="762238"/>
          </a:xfrm>
          <a:prstGeom prst="rect">
            <a:avLst/>
          </a:prstGeom>
          <a:noFill/>
          <a:ln/>
        </p:spPr>
        <p:txBody>
          <a:bodyPr wrap="square" lIns="0" tIns="0" rIns="0" bIns="0" rtlCol="0" anchor="t"/>
          <a:lstStyle/>
          <a:p>
            <a:pPr marL="0" indent="0" algn="l">
              <a:lnSpc>
                <a:spcPts val="2000"/>
              </a:lnSpc>
              <a:buNone/>
            </a:pPr>
            <a:r>
              <a:rPr lang="en-US" sz="1400" dirty="0">
                <a:solidFill>
                  <a:srgbClr val="404155"/>
                </a:solidFill>
                <a:latin typeface="Nobile" pitchFamily="34" charset="0"/>
                <a:ea typeface="Nobile" pitchFamily="34" charset="-122"/>
                <a:cs typeface="Nobile" pitchFamily="34" charset="-120"/>
              </a:rPr>
              <a:t>India's "pharmacy to the world" expanded dramatically, supplying generic medicines globally</a:t>
            </a:r>
            <a:endParaRPr lang="en-US" sz="1400" dirty="0"/>
          </a:p>
        </p:txBody>
      </p:sp>
      <p:pic>
        <p:nvPicPr>
          <p:cNvPr id="6" name="Image 1" descr="preencoded.png"/>
          <p:cNvPicPr>
            <a:picLocks noChangeAspect="1"/>
          </p:cNvPicPr>
          <p:nvPr/>
        </p:nvPicPr>
        <p:blipFill>
          <a:blip r:embed="rId4"/>
          <a:stretch>
            <a:fillRect/>
          </a:stretch>
        </p:blipFill>
        <p:spPr>
          <a:xfrm>
            <a:off x="4287679" y="1388864"/>
            <a:ext cx="1705213" cy="1705213"/>
          </a:xfrm>
          <a:prstGeom prst="rect">
            <a:avLst/>
          </a:prstGeom>
        </p:spPr>
      </p:pic>
      <p:sp>
        <p:nvSpPr>
          <p:cNvPr id="7" name="Text 3"/>
          <p:cNvSpPr/>
          <p:nvPr/>
        </p:nvSpPr>
        <p:spPr>
          <a:xfrm>
            <a:off x="4287679" y="3268742"/>
            <a:ext cx="2225397" cy="278130"/>
          </a:xfrm>
          <a:prstGeom prst="rect">
            <a:avLst/>
          </a:prstGeom>
          <a:noFill/>
          <a:ln/>
        </p:spPr>
        <p:txBody>
          <a:bodyPr wrap="none" lIns="0" tIns="0" rIns="0" bIns="0" rtlCol="0" anchor="t"/>
          <a:lstStyle/>
          <a:p>
            <a:pPr marL="0" indent="0" algn="l">
              <a:lnSpc>
                <a:spcPts val="2150"/>
              </a:lnSpc>
              <a:buNone/>
            </a:pPr>
            <a:r>
              <a:rPr lang="en-US" sz="1750" dirty="0">
                <a:solidFill>
                  <a:srgbClr val="404155"/>
                </a:solidFill>
                <a:latin typeface="Corben" pitchFamily="34" charset="0"/>
                <a:ea typeface="Corben" pitchFamily="34" charset="-122"/>
                <a:cs typeface="Corben" pitchFamily="34" charset="-120"/>
              </a:rPr>
              <a:t>Petroleum Products</a:t>
            </a:r>
            <a:endParaRPr lang="en-US" sz="1750" dirty="0"/>
          </a:p>
        </p:txBody>
      </p:sp>
      <p:sp>
        <p:nvSpPr>
          <p:cNvPr id="8" name="Text 4"/>
          <p:cNvSpPr/>
          <p:nvPr/>
        </p:nvSpPr>
        <p:spPr>
          <a:xfrm>
            <a:off x="4287679" y="3630692"/>
            <a:ext cx="2940129" cy="762238"/>
          </a:xfrm>
          <a:prstGeom prst="rect">
            <a:avLst/>
          </a:prstGeom>
          <a:noFill/>
          <a:ln/>
        </p:spPr>
        <p:txBody>
          <a:bodyPr wrap="square" lIns="0" tIns="0" rIns="0" bIns="0" rtlCol="0" anchor="t"/>
          <a:lstStyle/>
          <a:p>
            <a:pPr marL="0" indent="0" algn="l">
              <a:lnSpc>
                <a:spcPts val="2000"/>
              </a:lnSpc>
              <a:buNone/>
            </a:pPr>
            <a:r>
              <a:rPr lang="en-US" sz="1400" dirty="0">
                <a:solidFill>
                  <a:srgbClr val="404155"/>
                </a:solidFill>
                <a:latin typeface="Nobile" pitchFamily="34" charset="0"/>
                <a:ea typeface="Nobile" pitchFamily="34" charset="-122"/>
                <a:cs typeface="Nobile" pitchFamily="34" charset="-120"/>
              </a:rPr>
              <a:t>Refined products became top export category, leveraging refining capacity</a:t>
            </a:r>
            <a:endParaRPr lang="en-US" sz="1400" dirty="0"/>
          </a:p>
        </p:txBody>
      </p:sp>
      <p:pic>
        <p:nvPicPr>
          <p:cNvPr id="9" name="Image 2" descr="preencoded.png"/>
          <p:cNvPicPr>
            <a:picLocks noChangeAspect="1"/>
          </p:cNvPicPr>
          <p:nvPr/>
        </p:nvPicPr>
        <p:blipFill>
          <a:blip r:embed="rId5"/>
          <a:stretch>
            <a:fillRect/>
          </a:stretch>
        </p:blipFill>
        <p:spPr>
          <a:xfrm>
            <a:off x="7402473" y="1388864"/>
            <a:ext cx="1705094" cy="1705094"/>
          </a:xfrm>
          <a:prstGeom prst="rect">
            <a:avLst/>
          </a:prstGeom>
        </p:spPr>
      </p:pic>
      <p:sp>
        <p:nvSpPr>
          <p:cNvPr id="10" name="Text 5"/>
          <p:cNvSpPr/>
          <p:nvPr/>
        </p:nvSpPr>
        <p:spPr>
          <a:xfrm>
            <a:off x="7402473" y="3268623"/>
            <a:ext cx="2225397" cy="278130"/>
          </a:xfrm>
          <a:prstGeom prst="rect">
            <a:avLst/>
          </a:prstGeom>
          <a:noFill/>
          <a:ln/>
        </p:spPr>
        <p:txBody>
          <a:bodyPr wrap="none" lIns="0" tIns="0" rIns="0" bIns="0" rtlCol="0" anchor="t"/>
          <a:lstStyle/>
          <a:p>
            <a:pPr marL="0" indent="0" algn="l">
              <a:lnSpc>
                <a:spcPts val="2150"/>
              </a:lnSpc>
              <a:buNone/>
            </a:pPr>
            <a:r>
              <a:rPr lang="en-US" sz="1750" dirty="0">
                <a:solidFill>
                  <a:srgbClr val="404155"/>
                </a:solidFill>
                <a:latin typeface="Corben" pitchFamily="34" charset="0"/>
                <a:ea typeface="Corben" pitchFamily="34" charset="-122"/>
                <a:cs typeface="Corben" pitchFamily="34" charset="-120"/>
              </a:rPr>
              <a:t>Gems &amp; Jewelry</a:t>
            </a:r>
            <a:endParaRPr lang="en-US" sz="1750" dirty="0"/>
          </a:p>
        </p:txBody>
      </p:sp>
      <p:sp>
        <p:nvSpPr>
          <p:cNvPr id="11" name="Text 6"/>
          <p:cNvSpPr/>
          <p:nvPr/>
        </p:nvSpPr>
        <p:spPr>
          <a:xfrm>
            <a:off x="7402473" y="3630573"/>
            <a:ext cx="2940010" cy="508159"/>
          </a:xfrm>
          <a:prstGeom prst="rect">
            <a:avLst/>
          </a:prstGeom>
          <a:noFill/>
          <a:ln/>
        </p:spPr>
        <p:txBody>
          <a:bodyPr wrap="square" lIns="0" tIns="0" rIns="0" bIns="0" rtlCol="0" anchor="t"/>
          <a:lstStyle/>
          <a:p>
            <a:pPr marL="0" indent="0" algn="l">
              <a:lnSpc>
                <a:spcPts val="2000"/>
              </a:lnSpc>
              <a:buNone/>
            </a:pPr>
            <a:r>
              <a:rPr lang="en-US" sz="1400" dirty="0">
                <a:solidFill>
                  <a:srgbClr val="404155"/>
                </a:solidFill>
                <a:latin typeface="Nobile" pitchFamily="34" charset="0"/>
                <a:ea typeface="Nobile" pitchFamily="34" charset="-122"/>
                <a:cs typeface="Nobile" pitchFamily="34" charset="-120"/>
              </a:rPr>
              <a:t>Traditional strength in diamond cutting and gold jewelry exports</a:t>
            </a:r>
            <a:endParaRPr lang="en-US" sz="1400" dirty="0"/>
          </a:p>
        </p:txBody>
      </p:sp>
      <p:pic>
        <p:nvPicPr>
          <p:cNvPr id="12" name="Image 3" descr="preencoded.png"/>
          <p:cNvPicPr>
            <a:picLocks noChangeAspect="1"/>
          </p:cNvPicPr>
          <p:nvPr/>
        </p:nvPicPr>
        <p:blipFill>
          <a:blip r:embed="rId6"/>
          <a:stretch>
            <a:fillRect/>
          </a:stretch>
        </p:blipFill>
        <p:spPr>
          <a:xfrm>
            <a:off x="10517148" y="1388864"/>
            <a:ext cx="1705213" cy="1705213"/>
          </a:xfrm>
          <a:prstGeom prst="rect">
            <a:avLst/>
          </a:prstGeom>
        </p:spPr>
      </p:pic>
      <p:sp>
        <p:nvSpPr>
          <p:cNvPr id="13" name="Text 7"/>
          <p:cNvSpPr/>
          <p:nvPr/>
        </p:nvSpPr>
        <p:spPr>
          <a:xfrm>
            <a:off x="10517148" y="3268742"/>
            <a:ext cx="2225397" cy="278130"/>
          </a:xfrm>
          <a:prstGeom prst="rect">
            <a:avLst/>
          </a:prstGeom>
          <a:noFill/>
          <a:ln/>
        </p:spPr>
        <p:txBody>
          <a:bodyPr wrap="none" lIns="0" tIns="0" rIns="0" bIns="0" rtlCol="0" anchor="t"/>
          <a:lstStyle/>
          <a:p>
            <a:pPr marL="0" indent="0" algn="l">
              <a:lnSpc>
                <a:spcPts val="2150"/>
              </a:lnSpc>
              <a:buNone/>
            </a:pPr>
            <a:r>
              <a:rPr lang="en-US" sz="1750" dirty="0">
                <a:solidFill>
                  <a:srgbClr val="404155"/>
                </a:solidFill>
                <a:latin typeface="Corben" pitchFamily="34" charset="0"/>
                <a:ea typeface="Corben" pitchFamily="34" charset="-122"/>
                <a:cs typeface="Corben" pitchFamily="34" charset="-120"/>
              </a:rPr>
              <a:t>Crude Oil</a:t>
            </a:r>
            <a:endParaRPr lang="en-US" sz="1750" dirty="0"/>
          </a:p>
        </p:txBody>
      </p:sp>
      <p:sp>
        <p:nvSpPr>
          <p:cNvPr id="14" name="Text 8"/>
          <p:cNvSpPr/>
          <p:nvPr/>
        </p:nvSpPr>
        <p:spPr>
          <a:xfrm>
            <a:off x="10517148" y="3630692"/>
            <a:ext cx="2940129" cy="508159"/>
          </a:xfrm>
          <a:prstGeom prst="rect">
            <a:avLst/>
          </a:prstGeom>
          <a:noFill/>
          <a:ln/>
        </p:spPr>
        <p:txBody>
          <a:bodyPr wrap="square" lIns="0" tIns="0" rIns="0" bIns="0" rtlCol="0" anchor="t"/>
          <a:lstStyle/>
          <a:p>
            <a:pPr marL="0" indent="0" algn="l">
              <a:lnSpc>
                <a:spcPts val="2000"/>
              </a:lnSpc>
              <a:buNone/>
            </a:pPr>
            <a:r>
              <a:rPr lang="en-US" sz="1400" dirty="0">
                <a:solidFill>
                  <a:srgbClr val="404155"/>
                </a:solidFill>
                <a:latin typeface="Nobile" pitchFamily="34" charset="0"/>
                <a:ea typeface="Nobile" pitchFamily="34" charset="-122"/>
                <a:cs typeface="Nobile" pitchFamily="34" charset="-120"/>
              </a:rPr>
              <a:t>Largest import category, meeting growing energy demands</a:t>
            </a:r>
            <a:endParaRPr lang="en-US" sz="1400" dirty="0"/>
          </a:p>
        </p:txBody>
      </p:sp>
      <p:pic>
        <p:nvPicPr>
          <p:cNvPr id="15" name="Image 4" descr="preencoded.png"/>
          <p:cNvPicPr>
            <a:picLocks noChangeAspect="1"/>
          </p:cNvPicPr>
          <p:nvPr/>
        </p:nvPicPr>
        <p:blipFill>
          <a:blip r:embed="rId7"/>
          <a:stretch>
            <a:fillRect/>
          </a:stretch>
        </p:blipFill>
        <p:spPr>
          <a:xfrm>
            <a:off x="1173004" y="4672370"/>
            <a:ext cx="1705094" cy="1705094"/>
          </a:xfrm>
          <a:prstGeom prst="rect">
            <a:avLst/>
          </a:prstGeom>
        </p:spPr>
      </p:pic>
      <p:sp>
        <p:nvSpPr>
          <p:cNvPr id="16" name="Text 9"/>
          <p:cNvSpPr/>
          <p:nvPr/>
        </p:nvSpPr>
        <p:spPr>
          <a:xfrm>
            <a:off x="1173004" y="6552128"/>
            <a:ext cx="2225397" cy="278130"/>
          </a:xfrm>
          <a:prstGeom prst="rect">
            <a:avLst/>
          </a:prstGeom>
          <a:noFill/>
          <a:ln/>
        </p:spPr>
        <p:txBody>
          <a:bodyPr wrap="none" lIns="0" tIns="0" rIns="0" bIns="0" rtlCol="0" anchor="t"/>
          <a:lstStyle/>
          <a:p>
            <a:pPr marL="0" indent="0" algn="l">
              <a:lnSpc>
                <a:spcPts val="2150"/>
              </a:lnSpc>
              <a:buNone/>
            </a:pPr>
            <a:r>
              <a:rPr lang="en-US" sz="1750" dirty="0">
                <a:solidFill>
                  <a:srgbClr val="404155"/>
                </a:solidFill>
                <a:latin typeface="Corben" pitchFamily="34" charset="0"/>
                <a:ea typeface="Corben" pitchFamily="34" charset="-122"/>
                <a:cs typeface="Corben" pitchFamily="34" charset="-120"/>
              </a:rPr>
              <a:t>Electronics</a:t>
            </a:r>
            <a:endParaRPr lang="en-US" sz="1750" dirty="0"/>
          </a:p>
        </p:txBody>
      </p:sp>
      <p:sp>
        <p:nvSpPr>
          <p:cNvPr id="17" name="Text 10"/>
          <p:cNvSpPr/>
          <p:nvPr/>
        </p:nvSpPr>
        <p:spPr>
          <a:xfrm>
            <a:off x="1173004" y="6914078"/>
            <a:ext cx="2940010" cy="762238"/>
          </a:xfrm>
          <a:prstGeom prst="rect">
            <a:avLst/>
          </a:prstGeom>
          <a:noFill/>
          <a:ln/>
        </p:spPr>
        <p:txBody>
          <a:bodyPr wrap="square" lIns="0" tIns="0" rIns="0" bIns="0" rtlCol="0" anchor="t"/>
          <a:lstStyle/>
          <a:p>
            <a:pPr marL="0" indent="0" algn="l">
              <a:lnSpc>
                <a:spcPts val="2000"/>
              </a:lnSpc>
              <a:buNone/>
            </a:pPr>
            <a:r>
              <a:rPr lang="en-US" sz="1400" dirty="0">
                <a:solidFill>
                  <a:srgbClr val="404155"/>
                </a:solidFill>
                <a:latin typeface="Nobile" pitchFamily="34" charset="0"/>
                <a:ea typeface="Nobile" pitchFamily="34" charset="-122"/>
                <a:cs typeface="Nobile" pitchFamily="34" charset="-120"/>
              </a:rPr>
              <a:t>Smartphones, computers, and components fueling consumer demand</a:t>
            </a:r>
            <a:endParaRPr lang="en-US" sz="1400" dirty="0"/>
          </a:p>
        </p:txBody>
      </p:sp>
      <p:pic>
        <p:nvPicPr>
          <p:cNvPr id="18" name="Image 5" descr="preencoded.png"/>
          <p:cNvPicPr>
            <a:picLocks noChangeAspect="1"/>
          </p:cNvPicPr>
          <p:nvPr/>
        </p:nvPicPr>
        <p:blipFill>
          <a:blip r:embed="rId8"/>
          <a:stretch>
            <a:fillRect/>
          </a:stretch>
        </p:blipFill>
        <p:spPr>
          <a:xfrm>
            <a:off x="4287679" y="4672370"/>
            <a:ext cx="1705213" cy="1705213"/>
          </a:xfrm>
          <a:prstGeom prst="rect">
            <a:avLst/>
          </a:prstGeom>
        </p:spPr>
      </p:pic>
      <p:sp>
        <p:nvSpPr>
          <p:cNvPr id="19" name="Text 11"/>
          <p:cNvSpPr/>
          <p:nvPr/>
        </p:nvSpPr>
        <p:spPr>
          <a:xfrm>
            <a:off x="4287679" y="6552248"/>
            <a:ext cx="2225397" cy="278130"/>
          </a:xfrm>
          <a:prstGeom prst="rect">
            <a:avLst/>
          </a:prstGeom>
          <a:noFill/>
          <a:ln/>
        </p:spPr>
        <p:txBody>
          <a:bodyPr wrap="none" lIns="0" tIns="0" rIns="0" bIns="0" rtlCol="0" anchor="t"/>
          <a:lstStyle/>
          <a:p>
            <a:pPr marL="0" indent="0" algn="l">
              <a:lnSpc>
                <a:spcPts val="2150"/>
              </a:lnSpc>
              <a:buNone/>
            </a:pPr>
            <a:r>
              <a:rPr lang="en-US" sz="1750" dirty="0">
                <a:solidFill>
                  <a:srgbClr val="404155"/>
                </a:solidFill>
                <a:latin typeface="Corben" pitchFamily="34" charset="0"/>
                <a:ea typeface="Corben" pitchFamily="34" charset="-122"/>
                <a:cs typeface="Corben" pitchFamily="34" charset="-120"/>
              </a:rPr>
              <a:t>Machinery</a:t>
            </a:r>
            <a:endParaRPr lang="en-US" sz="1750" dirty="0"/>
          </a:p>
        </p:txBody>
      </p:sp>
      <p:sp>
        <p:nvSpPr>
          <p:cNvPr id="20" name="Text 12"/>
          <p:cNvSpPr/>
          <p:nvPr/>
        </p:nvSpPr>
        <p:spPr>
          <a:xfrm>
            <a:off x="4287679" y="6914198"/>
            <a:ext cx="2940129" cy="762238"/>
          </a:xfrm>
          <a:prstGeom prst="rect">
            <a:avLst/>
          </a:prstGeom>
          <a:noFill/>
          <a:ln/>
        </p:spPr>
        <p:txBody>
          <a:bodyPr wrap="square" lIns="0" tIns="0" rIns="0" bIns="0" rtlCol="0" anchor="t"/>
          <a:lstStyle/>
          <a:p>
            <a:pPr marL="0" indent="0" algn="l">
              <a:lnSpc>
                <a:spcPts val="2000"/>
              </a:lnSpc>
              <a:buNone/>
            </a:pPr>
            <a:r>
              <a:rPr lang="en-US" sz="1400" dirty="0">
                <a:solidFill>
                  <a:srgbClr val="404155"/>
                </a:solidFill>
                <a:latin typeface="Nobile" pitchFamily="34" charset="0"/>
                <a:ea typeface="Nobile" pitchFamily="34" charset="-122"/>
                <a:cs typeface="Nobile" pitchFamily="34" charset="-120"/>
              </a:rPr>
              <a:t>Manufacturing equipment and industrial tools for economic development</a:t>
            </a:r>
            <a:endParaRPr lang="en-US" sz="1400" dirty="0"/>
          </a:p>
        </p:txBody>
      </p:sp>
      <p:sp>
        <p:nvSpPr>
          <p:cNvPr id="21" name="Rectangle 20">
            <a:extLst>
              <a:ext uri="{FF2B5EF4-FFF2-40B4-BE49-F238E27FC236}">
                <a16:creationId xmlns:a16="http://schemas.microsoft.com/office/drawing/2014/main" id="{5472F1F9-4ADE-44E3-A461-908777B1F728}"/>
              </a:ext>
            </a:extLst>
          </p:cNvPr>
          <p:cNvSpPr/>
          <p:nvPr/>
        </p:nvSpPr>
        <p:spPr>
          <a:xfrm>
            <a:off x="12654455" y="7620000"/>
            <a:ext cx="1891862" cy="515007"/>
          </a:xfrm>
          <a:prstGeom prst="rect">
            <a:avLst/>
          </a:prstGeom>
          <a:solidFill>
            <a:srgbClr val="F9F9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arn(inVertical)">
                                      <p:cBhvr>
                                        <p:cTn id="10" dur="500"/>
                                        <p:tgtEl>
                                          <p:spTgt spid="4"/>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arn(inVertical)">
                                      <p:cBhvr>
                                        <p:cTn id="13" dur="500"/>
                                        <p:tgtEl>
                                          <p:spTgt spid="5"/>
                                        </p:tgtEl>
                                      </p:cBhvr>
                                    </p:animEffect>
                                  </p:childTnLst>
                                </p:cTn>
                              </p:par>
                              <p:par>
                                <p:cTn id="14" presetID="16" presetClass="entr" presetSubtype="21"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arn(inVertical)">
                                      <p:cBhvr>
                                        <p:cTn id="16" dur="500"/>
                                        <p:tgtEl>
                                          <p:spTgt spid="6"/>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arn(inVertical)">
                                      <p:cBhvr>
                                        <p:cTn id="19" dur="500"/>
                                        <p:tgtEl>
                                          <p:spTgt spid="7"/>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arn(inVertical)">
                                      <p:cBhvr>
                                        <p:cTn id="22" dur="500"/>
                                        <p:tgtEl>
                                          <p:spTgt spid="8"/>
                                        </p:tgtEl>
                                      </p:cBhvr>
                                    </p:animEffect>
                                  </p:childTnLst>
                                </p:cTn>
                              </p:par>
                              <p:par>
                                <p:cTn id="23" presetID="16" presetClass="entr" presetSubtype="21"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arn(inVertical)">
                                      <p:cBhvr>
                                        <p:cTn id="25" dur="500"/>
                                        <p:tgtEl>
                                          <p:spTgt spid="9"/>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barn(inVertical)">
                                      <p:cBhvr>
                                        <p:cTn id="28" dur="500"/>
                                        <p:tgtEl>
                                          <p:spTgt spid="10"/>
                                        </p:tgtEl>
                                      </p:cBhvr>
                                    </p:animEffect>
                                  </p:childTnLst>
                                </p:cTn>
                              </p:par>
                              <p:par>
                                <p:cTn id="29" presetID="16" presetClass="entr" presetSubtype="21"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barn(inVertical)">
                                      <p:cBhvr>
                                        <p:cTn id="31" dur="500"/>
                                        <p:tgtEl>
                                          <p:spTgt spid="11"/>
                                        </p:tgtEl>
                                      </p:cBhvr>
                                    </p:animEffect>
                                  </p:childTnLst>
                                </p:cTn>
                              </p:par>
                              <p:par>
                                <p:cTn id="32" presetID="16" presetClass="entr" presetSubtype="21" fill="hold"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barn(inVertical)">
                                      <p:cBhvr>
                                        <p:cTn id="34" dur="500"/>
                                        <p:tgtEl>
                                          <p:spTgt spid="12"/>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arn(inVertical)">
                                      <p:cBhvr>
                                        <p:cTn id="37" dur="500"/>
                                        <p:tgtEl>
                                          <p:spTgt spid="13"/>
                                        </p:tgtEl>
                                      </p:cBhvr>
                                    </p:animEffect>
                                  </p:childTnLst>
                                </p:cTn>
                              </p:par>
                              <p:par>
                                <p:cTn id="38" presetID="16" presetClass="entr" presetSubtype="21"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barn(inVertical)">
                                      <p:cBhvr>
                                        <p:cTn id="40" dur="500"/>
                                        <p:tgtEl>
                                          <p:spTgt spid="15"/>
                                        </p:tgtEl>
                                      </p:cBhvr>
                                    </p:animEffect>
                                  </p:childTnLst>
                                </p:cTn>
                              </p:par>
                              <p:par>
                                <p:cTn id="41" presetID="16" presetClass="entr" presetSubtype="21"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barn(inVertical)">
                                      <p:cBhvr>
                                        <p:cTn id="43" dur="500"/>
                                        <p:tgtEl>
                                          <p:spTgt spid="16"/>
                                        </p:tgtEl>
                                      </p:cBhvr>
                                    </p:animEffect>
                                  </p:childTnLst>
                                </p:cTn>
                              </p:par>
                              <p:par>
                                <p:cTn id="44" presetID="16" presetClass="entr" presetSubtype="21"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barn(inVertical)">
                                      <p:cBhvr>
                                        <p:cTn id="46" dur="500"/>
                                        <p:tgtEl>
                                          <p:spTgt spid="17"/>
                                        </p:tgtEl>
                                      </p:cBhvr>
                                    </p:animEffect>
                                  </p:childTnLst>
                                </p:cTn>
                              </p:par>
                              <p:par>
                                <p:cTn id="47" presetID="16" presetClass="entr" presetSubtype="21" fill="hold"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barn(inVertical)">
                                      <p:cBhvr>
                                        <p:cTn id="49" dur="500"/>
                                        <p:tgtEl>
                                          <p:spTgt spid="18"/>
                                        </p:tgtEl>
                                      </p:cBhvr>
                                    </p:animEffect>
                                  </p:childTnLst>
                                </p:cTn>
                              </p:par>
                              <p:par>
                                <p:cTn id="50" presetID="16" presetClass="entr" presetSubtype="21"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barn(inVertical)">
                                      <p:cBhvr>
                                        <p:cTn id="52" dur="500"/>
                                        <p:tgtEl>
                                          <p:spTgt spid="19"/>
                                        </p:tgtEl>
                                      </p:cBhvr>
                                    </p:animEffect>
                                  </p:childTnLst>
                                </p:cTn>
                              </p:par>
                              <p:par>
                                <p:cTn id="53" presetID="16" presetClass="entr" presetSubtype="21"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barn(inVertical)">
                                      <p:cBhvr>
                                        <p:cTn id="55" dur="500"/>
                                        <p:tgtEl>
                                          <p:spTgt spid="20"/>
                                        </p:tgtEl>
                                      </p:cBhvr>
                                    </p:animEffect>
                                  </p:childTnLst>
                                </p:cTn>
                              </p:par>
                              <p:par>
                                <p:cTn id="56" presetID="16" presetClass="entr" presetSubtype="21"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barn(inVertical)">
                                      <p:cBhvr>
                                        <p:cTn id="5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0" grpId="0" animBg="1"/>
      <p:bldP spid="11" grpId="0" animBg="1"/>
      <p:bldP spid="13" grpId="0" animBg="1"/>
      <p:bldP spid="14" grpId="0" animBg="1"/>
      <p:bldP spid="16" grpId="0" animBg="1"/>
      <p:bldP spid="17" grpId="0" animBg="1"/>
      <p:bldP spid="19" grpId="0" animBg="1"/>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44260" y="684609"/>
            <a:ext cx="7655481" cy="1328976"/>
          </a:xfrm>
          <a:prstGeom prst="rect">
            <a:avLst/>
          </a:prstGeom>
          <a:noFill/>
          <a:ln/>
        </p:spPr>
        <p:txBody>
          <a:bodyPr wrap="square" lIns="0" tIns="0" rIns="0" bIns="0" rtlCol="0" anchor="t"/>
          <a:lstStyle/>
          <a:p>
            <a:pPr marL="0" indent="0" algn="l">
              <a:lnSpc>
                <a:spcPts val="5200"/>
              </a:lnSpc>
              <a:buNone/>
            </a:pPr>
            <a:r>
              <a:rPr lang="en-US" sz="4150" dirty="0">
                <a:solidFill>
                  <a:srgbClr val="1B1B27"/>
                </a:solidFill>
                <a:latin typeface="Corben" pitchFamily="34" charset="0"/>
                <a:ea typeface="Corben" pitchFamily="34" charset="-122"/>
                <a:cs typeface="Corben" pitchFamily="34" charset="-120"/>
              </a:rPr>
              <a:t>The Impact of Global Events: A Snapshot</a:t>
            </a:r>
            <a:endParaRPr lang="en-US" sz="4150" dirty="0"/>
          </a:p>
        </p:txBody>
      </p:sp>
      <p:sp>
        <p:nvSpPr>
          <p:cNvPr id="4" name="Shape 1"/>
          <p:cNvSpPr/>
          <p:nvPr/>
        </p:nvSpPr>
        <p:spPr>
          <a:xfrm>
            <a:off x="983456" y="2312551"/>
            <a:ext cx="22860" cy="3689985"/>
          </a:xfrm>
          <a:prstGeom prst="roundRect">
            <a:avLst>
              <a:gd name="adj" fmla="val 390698"/>
            </a:avLst>
          </a:prstGeom>
          <a:solidFill>
            <a:srgbClr val="B8BFDF"/>
          </a:solidFill>
          <a:ln/>
        </p:spPr>
      </p:sp>
      <p:sp>
        <p:nvSpPr>
          <p:cNvPr id="5" name="Shape 2"/>
          <p:cNvSpPr/>
          <p:nvPr/>
        </p:nvSpPr>
        <p:spPr>
          <a:xfrm>
            <a:off x="1199793" y="2540318"/>
            <a:ext cx="637937" cy="22860"/>
          </a:xfrm>
          <a:prstGeom prst="roundRect">
            <a:avLst>
              <a:gd name="adj" fmla="val 390698"/>
            </a:avLst>
          </a:prstGeom>
          <a:solidFill>
            <a:srgbClr val="B8BFDF"/>
          </a:solidFill>
          <a:ln/>
        </p:spPr>
      </p:sp>
      <p:sp>
        <p:nvSpPr>
          <p:cNvPr id="6" name="Shape 3"/>
          <p:cNvSpPr/>
          <p:nvPr/>
        </p:nvSpPr>
        <p:spPr>
          <a:xfrm>
            <a:off x="744260" y="2312551"/>
            <a:ext cx="478393" cy="478393"/>
          </a:xfrm>
          <a:prstGeom prst="roundRect">
            <a:avLst>
              <a:gd name="adj" fmla="val 18669"/>
            </a:avLst>
          </a:prstGeom>
          <a:solidFill>
            <a:srgbClr val="D2D9F9"/>
          </a:solidFill>
          <a:ln w="7620">
            <a:solidFill>
              <a:srgbClr val="B8BFDF"/>
            </a:solidFill>
            <a:prstDash val="solid"/>
          </a:ln>
        </p:spPr>
      </p:sp>
      <p:sp>
        <p:nvSpPr>
          <p:cNvPr id="7" name="Text 4"/>
          <p:cNvSpPr/>
          <p:nvPr/>
        </p:nvSpPr>
        <p:spPr>
          <a:xfrm>
            <a:off x="823972" y="2352437"/>
            <a:ext cx="318968" cy="398621"/>
          </a:xfrm>
          <a:prstGeom prst="rect">
            <a:avLst/>
          </a:prstGeom>
          <a:noFill/>
          <a:ln/>
        </p:spPr>
        <p:txBody>
          <a:bodyPr wrap="none" lIns="0" tIns="0" rIns="0" bIns="0" rtlCol="0" anchor="t"/>
          <a:lstStyle/>
          <a:p>
            <a:pPr marL="0" indent="0" algn="ctr">
              <a:lnSpc>
                <a:spcPts val="2500"/>
              </a:lnSpc>
              <a:buNone/>
            </a:pPr>
            <a:r>
              <a:rPr lang="en-US" sz="2500" dirty="0">
                <a:solidFill>
                  <a:srgbClr val="404155"/>
                </a:solidFill>
                <a:latin typeface="Corben" pitchFamily="34" charset="0"/>
                <a:ea typeface="Corben" pitchFamily="34" charset="-122"/>
                <a:cs typeface="Corben" pitchFamily="34" charset="-120"/>
              </a:rPr>
              <a:t>1</a:t>
            </a:r>
            <a:endParaRPr lang="en-US" sz="2500" dirty="0"/>
          </a:p>
        </p:txBody>
      </p:sp>
      <p:sp>
        <p:nvSpPr>
          <p:cNvPr id="8" name="Text 5"/>
          <p:cNvSpPr/>
          <p:nvPr/>
        </p:nvSpPr>
        <p:spPr>
          <a:xfrm>
            <a:off x="2046684" y="2385536"/>
            <a:ext cx="2658070" cy="332303"/>
          </a:xfrm>
          <a:prstGeom prst="rect">
            <a:avLst/>
          </a:prstGeom>
          <a:noFill/>
          <a:ln/>
        </p:spPr>
        <p:txBody>
          <a:bodyPr wrap="none" lIns="0" tIns="0" rIns="0" bIns="0" rtlCol="0" anchor="t"/>
          <a:lstStyle/>
          <a:p>
            <a:pPr marL="0" indent="0" algn="l">
              <a:lnSpc>
                <a:spcPts val="2600"/>
              </a:lnSpc>
              <a:buNone/>
            </a:pPr>
            <a:r>
              <a:rPr lang="en-US" sz="2050" dirty="0">
                <a:solidFill>
                  <a:srgbClr val="404155"/>
                </a:solidFill>
                <a:latin typeface="Corben" pitchFamily="34" charset="0"/>
                <a:ea typeface="Corben" pitchFamily="34" charset="-122"/>
                <a:cs typeface="Corben" pitchFamily="34" charset="-120"/>
              </a:rPr>
              <a:t>2010-2012</a:t>
            </a:r>
            <a:endParaRPr lang="en-US" sz="2050" dirty="0"/>
          </a:p>
        </p:txBody>
      </p:sp>
      <p:sp>
        <p:nvSpPr>
          <p:cNvPr id="9" name="Text 6"/>
          <p:cNvSpPr/>
          <p:nvPr/>
        </p:nvSpPr>
        <p:spPr>
          <a:xfrm>
            <a:off x="2046684" y="2837378"/>
            <a:ext cx="6353056" cy="329565"/>
          </a:xfrm>
          <a:prstGeom prst="rect">
            <a:avLst/>
          </a:prstGeom>
          <a:noFill/>
          <a:ln/>
        </p:spPr>
        <p:txBody>
          <a:bodyPr wrap="none" lIns="0" tIns="0" rIns="0" bIns="0" rtlCol="0" anchor="t"/>
          <a:lstStyle/>
          <a:p>
            <a:pPr marL="0" indent="0" algn="l">
              <a:lnSpc>
                <a:spcPts val="2550"/>
              </a:lnSpc>
              <a:buNone/>
            </a:pPr>
            <a:r>
              <a:rPr lang="en-US" sz="1650" dirty="0">
                <a:solidFill>
                  <a:srgbClr val="404155"/>
                </a:solidFill>
                <a:latin typeface="Nobile" pitchFamily="34" charset="0"/>
                <a:ea typeface="Nobile" pitchFamily="34" charset="-122"/>
                <a:cs typeface="Nobile" pitchFamily="34" charset="-120"/>
              </a:rPr>
              <a:t>Post-financial crisis recovery, moderate trade growth</a:t>
            </a:r>
            <a:endParaRPr lang="en-US" sz="1650" dirty="0"/>
          </a:p>
        </p:txBody>
      </p:sp>
      <p:sp>
        <p:nvSpPr>
          <p:cNvPr id="10" name="Shape 7"/>
          <p:cNvSpPr/>
          <p:nvPr/>
        </p:nvSpPr>
        <p:spPr>
          <a:xfrm>
            <a:off x="1199793" y="3793331"/>
            <a:ext cx="637937" cy="22860"/>
          </a:xfrm>
          <a:prstGeom prst="roundRect">
            <a:avLst>
              <a:gd name="adj" fmla="val 390698"/>
            </a:avLst>
          </a:prstGeom>
          <a:solidFill>
            <a:srgbClr val="B8BFDF"/>
          </a:solidFill>
          <a:ln/>
        </p:spPr>
      </p:sp>
      <p:sp>
        <p:nvSpPr>
          <p:cNvPr id="11" name="Shape 8"/>
          <p:cNvSpPr/>
          <p:nvPr/>
        </p:nvSpPr>
        <p:spPr>
          <a:xfrm>
            <a:off x="744260" y="3565565"/>
            <a:ext cx="478393" cy="478393"/>
          </a:xfrm>
          <a:prstGeom prst="roundRect">
            <a:avLst>
              <a:gd name="adj" fmla="val 18669"/>
            </a:avLst>
          </a:prstGeom>
          <a:solidFill>
            <a:srgbClr val="D2D9F9"/>
          </a:solidFill>
          <a:ln w="7620">
            <a:solidFill>
              <a:srgbClr val="B8BFDF"/>
            </a:solidFill>
            <a:prstDash val="solid"/>
          </a:ln>
        </p:spPr>
      </p:sp>
      <p:sp>
        <p:nvSpPr>
          <p:cNvPr id="12" name="Text 9"/>
          <p:cNvSpPr/>
          <p:nvPr/>
        </p:nvSpPr>
        <p:spPr>
          <a:xfrm>
            <a:off x="823972" y="3605451"/>
            <a:ext cx="318968" cy="398621"/>
          </a:xfrm>
          <a:prstGeom prst="rect">
            <a:avLst/>
          </a:prstGeom>
          <a:noFill/>
          <a:ln/>
        </p:spPr>
        <p:txBody>
          <a:bodyPr wrap="none" lIns="0" tIns="0" rIns="0" bIns="0" rtlCol="0" anchor="t"/>
          <a:lstStyle/>
          <a:p>
            <a:pPr marL="0" indent="0" algn="ctr">
              <a:lnSpc>
                <a:spcPts val="2500"/>
              </a:lnSpc>
              <a:buNone/>
            </a:pPr>
            <a:r>
              <a:rPr lang="en-US" sz="2500" dirty="0">
                <a:solidFill>
                  <a:srgbClr val="404155"/>
                </a:solidFill>
                <a:latin typeface="Corben" pitchFamily="34" charset="0"/>
                <a:ea typeface="Corben" pitchFamily="34" charset="-122"/>
                <a:cs typeface="Corben" pitchFamily="34" charset="-120"/>
              </a:rPr>
              <a:t>2</a:t>
            </a:r>
            <a:endParaRPr lang="en-US" sz="2500" dirty="0"/>
          </a:p>
        </p:txBody>
      </p:sp>
      <p:sp>
        <p:nvSpPr>
          <p:cNvPr id="13" name="Text 10"/>
          <p:cNvSpPr/>
          <p:nvPr/>
        </p:nvSpPr>
        <p:spPr>
          <a:xfrm>
            <a:off x="2046684" y="3638550"/>
            <a:ext cx="2658070" cy="332303"/>
          </a:xfrm>
          <a:prstGeom prst="rect">
            <a:avLst/>
          </a:prstGeom>
          <a:noFill/>
          <a:ln/>
        </p:spPr>
        <p:txBody>
          <a:bodyPr wrap="none" lIns="0" tIns="0" rIns="0" bIns="0" rtlCol="0" anchor="t"/>
          <a:lstStyle/>
          <a:p>
            <a:pPr marL="0" indent="0" algn="l">
              <a:lnSpc>
                <a:spcPts val="2600"/>
              </a:lnSpc>
              <a:buNone/>
            </a:pPr>
            <a:r>
              <a:rPr lang="en-US" sz="2050" dirty="0">
                <a:solidFill>
                  <a:srgbClr val="404155"/>
                </a:solidFill>
                <a:latin typeface="Corben" pitchFamily="34" charset="0"/>
                <a:ea typeface="Corben" pitchFamily="34" charset="-122"/>
                <a:cs typeface="Corben" pitchFamily="34" charset="-120"/>
              </a:rPr>
              <a:t>2014-2016</a:t>
            </a:r>
            <a:endParaRPr lang="en-US" sz="2050" dirty="0"/>
          </a:p>
        </p:txBody>
      </p:sp>
      <p:sp>
        <p:nvSpPr>
          <p:cNvPr id="14" name="Text 11"/>
          <p:cNvSpPr/>
          <p:nvPr/>
        </p:nvSpPr>
        <p:spPr>
          <a:xfrm>
            <a:off x="2046684" y="4090392"/>
            <a:ext cx="6353056" cy="329565"/>
          </a:xfrm>
          <a:prstGeom prst="rect">
            <a:avLst/>
          </a:prstGeom>
          <a:noFill/>
          <a:ln/>
        </p:spPr>
        <p:txBody>
          <a:bodyPr wrap="none" lIns="0" tIns="0" rIns="0" bIns="0" rtlCol="0" anchor="t"/>
          <a:lstStyle/>
          <a:p>
            <a:pPr marL="0" indent="0" algn="l">
              <a:lnSpc>
                <a:spcPts val="2550"/>
              </a:lnSpc>
              <a:buNone/>
            </a:pPr>
            <a:r>
              <a:rPr lang="en-US" sz="1650" dirty="0">
                <a:solidFill>
                  <a:srgbClr val="404155"/>
                </a:solidFill>
                <a:latin typeface="Nobile" pitchFamily="34" charset="0"/>
                <a:ea typeface="Nobile" pitchFamily="34" charset="-122"/>
                <a:cs typeface="Nobile" pitchFamily="34" charset="-120"/>
              </a:rPr>
              <a:t>Oil price crash reduced import bill temporarily</a:t>
            </a:r>
            <a:endParaRPr lang="en-US" sz="1650" dirty="0"/>
          </a:p>
        </p:txBody>
      </p:sp>
      <p:sp>
        <p:nvSpPr>
          <p:cNvPr id="15" name="Shape 12"/>
          <p:cNvSpPr/>
          <p:nvPr/>
        </p:nvSpPr>
        <p:spPr>
          <a:xfrm>
            <a:off x="1199793" y="5046345"/>
            <a:ext cx="637937" cy="22860"/>
          </a:xfrm>
          <a:prstGeom prst="roundRect">
            <a:avLst>
              <a:gd name="adj" fmla="val 390698"/>
            </a:avLst>
          </a:prstGeom>
          <a:solidFill>
            <a:srgbClr val="B8BFDF"/>
          </a:solidFill>
          <a:ln/>
        </p:spPr>
      </p:sp>
      <p:sp>
        <p:nvSpPr>
          <p:cNvPr id="16" name="Shape 13"/>
          <p:cNvSpPr/>
          <p:nvPr/>
        </p:nvSpPr>
        <p:spPr>
          <a:xfrm>
            <a:off x="744260" y="4818578"/>
            <a:ext cx="478393" cy="478393"/>
          </a:xfrm>
          <a:prstGeom prst="roundRect">
            <a:avLst>
              <a:gd name="adj" fmla="val 18669"/>
            </a:avLst>
          </a:prstGeom>
          <a:solidFill>
            <a:srgbClr val="D2D9F9"/>
          </a:solidFill>
          <a:ln w="7620">
            <a:solidFill>
              <a:srgbClr val="B8BFDF"/>
            </a:solidFill>
            <a:prstDash val="solid"/>
          </a:ln>
        </p:spPr>
      </p:sp>
      <p:sp>
        <p:nvSpPr>
          <p:cNvPr id="17" name="Text 14"/>
          <p:cNvSpPr/>
          <p:nvPr/>
        </p:nvSpPr>
        <p:spPr>
          <a:xfrm>
            <a:off x="823972" y="4858464"/>
            <a:ext cx="318968" cy="398621"/>
          </a:xfrm>
          <a:prstGeom prst="rect">
            <a:avLst/>
          </a:prstGeom>
          <a:noFill/>
          <a:ln/>
        </p:spPr>
        <p:txBody>
          <a:bodyPr wrap="none" lIns="0" tIns="0" rIns="0" bIns="0" rtlCol="0" anchor="t"/>
          <a:lstStyle/>
          <a:p>
            <a:pPr marL="0" indent="0" algn="ctr">
              <a:lnSpc>
                <a:spcPts val="2500"/>
              </a:lnSpc>
              <a:buNone/>
            </a:pPr>
            <a:r>
              <a:rPr lang="en-US" sz="2500" dirty="0">
                <a:solidFill>
                  <a:srgbClr val="404155"/>
                </a:solidFill>
                <a:latin typeface="Corben" pitchFamily="34" charset="0"/>
                <a:ea typeface="Corben" pitchFamily="34" charset="-122"/>
                <a:cs typeface="Corben" pitchFamily="34" charset="-120"/>
              </a:rPr>
              <a:t>3</a:t>
            </a:r>
            <a:endParaRPr lang="en-US" sz="2500" dirty="0"/>
          </a:p>
        </p:txBody>
      </p:sp>
      <p:sp>
        <p:nvSpPr>
          <p:cNvPr id="18" name="Text 15"/>
          <p:cNvSpPr/>
          <p:nvPr/>
        </p:nvSpPr>
        <p:spPr>
          <a:xfrm>
            <a:off x="2046684" y="4891564"/>
            <a:ext cx="2658070" cy="332303"/>
          </a:xfrm>
          <a:prstGeom prst="rect">
            <a:avLst/>
          </a:prstGeom>
          <a:noFill/>
          <a:ln/>
        </p:spPr>
        <p:txBody>
          <a:bodyPr wrap="none" lIns="0" tIns="0" rIns="0" bIns="0" rtlCol="0" anchor="t"/>
          <a:lstStyle/>
          <a:p>
            <a:pPr marL="0" indent="0" algn="l">
              <a:lnSpc>
                <a:spcPts val="2600"/>
              </a:lnSpc>
              <a:buNone/>
            </a:pPr>
            <a:r>
              <a:rPr lang="en-US" sz="2050" dirty="0">
                <a:solidFill>
                  <a:srgbClr val="404155"/>
                </a:solidFill>
                <a:latin typeface="Corben" pitchFamily="34" charset="0"/>
                <a:ea typeface="Corben" pitchFamily="34" charset="-122"/>
                <a:cs typeface="Corben" pitchFamily="34" charset="-120"/>
              </a:rPr>
              <a:t>2020-2021</a:t>
            </a:r>
            <a:endParaRPr lang="en-US" sz="2050" dirty="0"/>
          </a:p>
        </p:txBody>
      </p:sp>
      <p:sp>
        <p:nvSpPr>
          <p:cNvPr id="19" name="Text 16"/>
          <p:cNvSpPr/>
          <p:nvPr/>
        </p:nvSpPr>
        <p:spPr>
          <a:xfrm>
            <a:off x="2046684" y="5343406"/>
            <a:ext cx="6353056" cy="659130"/>
          </a:xfrm>
          <a:prstGeom prst="rect">
            <a:avLst/>
          </a:prstGeom>
          <a:noFill/>
          <a:ln/>
        </p:spPr>
        <p:txBody>
          <a:bodyPr wrap="square" lIns="0" tIns="0" rIns="0" bIns="0" rtlCol="0" anchor="t"/>
          <a:lstStyle/>
          <a:p>
            <a:pPr marL="0" indent="0" algn="l">
              <a:lnSpc>
                <a:spcPts val="2550"/>
              </a:lnSpc>
              <a:buNone/>
            </a:pPr>
            <a:r>
              <a:rPr lang="en-US" sz="1650" dirty="0">
                <a:solidFill>
                  <a:srgbClr val="404155"/>
                </a:solidFill>
                <a:latin typeface="Nobile" pitchFamily="34" charset="0"/>
                <a:ea typeface="Nobile" pitchFamily="34" charset="-122"/>
                <a:cs typeface="Nobile" pitchFamily="34" charset="-120"/>
              </a:rPr>
              <a:t>COVID-19 pandemic caused initial disruption, followed by rebound</a:t>
            </a:r>
            <a:endParaRPr lang="en-US" sz="1650" dirty="0"/>
          </a:p>
        </p:txBody>
      </p:sp>
      <p:sp>
        <p:nvSpPr>
          <p:cNvPr id="20" name="Text 17"/>
          <p:cNvSpPr/>
          <p:nvPr/>
        </p:nvSpPr>
        <p:spPr>
          <a:xfrm>
            <a:off x="744260" y="6226731"/>
            <a:ext cx="7655481" cy="1318260"/>
          </a:xfrm>
          <a:prstGeom prst="rect">
            <a:avLst/>
          </a:prstGeom>
          <a:noFill/>
          <a:ln/>
        </p:spPr>
        <p:txBody>
          <a:bodyPr wrap="square" lIns="0" tIns="0" rIns="0" bIns="0" rtlCol="0" anchor="t"/>
          <a:lstStyle/>
          <a:p>
            <a:pPr marL="0" indent="0" algn="l">
              <a:lnSpc>
                <a:spcPts val="2550"/>
              </a:lnSpc>
              <a:buNone/>
            </a:pPr>
            <a:r>
              <a:rPr lang="en-US" sz="1650" dirty="0">
                <a:solidFill>
                  <a:srgbClr val="404155"/>
                </a:solidFill>
                <a:latin typeface="Nobile" pitchFamily="34" charset="0"/>
                <a:ea typeface="Nobile" pitchFamily="34" charset="-122"/>
                <a:cs typeface="Nobile" pitchFamily="34" charset="-120"/>
              </a:rPr>
              <a:t>Global events significantly impacted trade flows. The 2008 crisis aftermath constrained demand initially, while oil price volatility created opportunities. The pandemic's early stages disrupted supply chains but accelerated digital trade adoption.</a:t>
            </a:r>
            <a:endParaRPr lang="en-US" sz="16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P spid="13" grpId="0" animBg="1"/>
      <p:bldP spid="14" grpId="0" animBg="1"/>
      <p:bldP spid="17" grpId="0" animBg="1"/>
      <p:bldP spid="18" grpId="0" animBg="1"/>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82241" y="628769"/>
            <a:ext cx="8361045" cy="698421"/>
          </a:xfrm>
          <a:prstGeom prst="rect">
            <a:avLst/>
          </a:prstGeom>
          <a:noFill/>
          <a:ln/>
        </p:spPr>
        <p:txBody>
          <a:bodyPr wrap="none" lIns="0" tIns="0" rIns="0" bIns="0" rtlCol="0" anchor="t"/>
          <a:lstStyle/>
          <a:p>
            <a:pPr marL="0" indent="0" algn="l">
              <a:lnSpc>
                <a:spcPts val="5450"/>
              </a:lnSpc>
              <a:buNone/>
            </a:pPr>
            <a:r>
              <a:rPr lang="en-US" sz="4350" dirty="0">
                <a:solidFill>
                  <a:srgbClr val="1B1B27"/>
                </a:solidFill>
                <a:latin typeface="Corben" pitchFamily="34" charset="0"/>
                <a:ea typeface="Corben" pitchFamily="34" charset="-122"/>
                <a:cs typeface="Corben" pitchFamily="34" charset="-120"/>
              </a:rPr>
              <a:t>India's Trade by 2021: A New Era</a:t>
            </a:r>
            <a:endParaRPr lang="en-US" sz="4350" dirty="0"/>
          </a:p>
        </p:txBody>
      </p:sp>
      <p:sp>
        <p:nvSpPr>
          <p:cNvPr id="3" name="Text 1"/>
          <p:cNvSpPr/>
          <p:nvPr/>
        </p:nvSpPr>
        <p:spPr>
          <a:xfrm>
            <a:off x="1493401" y="3220283"/>
            <a:ext cx="2749153" cy="558760"/>
          </a:xfrm>
          <a:prstGeom prst="rect">
            <a:avLst/>
          </a:prstGeom>
          <a:noFill/>
          <a:ln/>
        </p:spPr>
        <p:txBody>
          <a:bodyPr wrap="none" lIns="0" tIns="0" rIns="0" bIns="0" rtlCol="0" anchor="t"/>
          <a:lstStyle/>
          <a:p>
            <a:pPr marL="0" indent="0" algn="ctr">
              <a:lnSpc>
                <a:spcPts val="4350"/>
              </a:lnSpc>
              <a:buNone/>
            </a:pPr>
            <a:r>
              <a:rPr lang="en-US" sz="4350" dirty="0">
                <a:solidFill>
                  <a:srgbClr val="404155"/>
                </a:solidFill>
                <a:latin typeface="Corben" pitchFamily="34" charset="0"/>
                <a:ea typeface="Corben" pitchFamily="34" charset="-122"/>
                <a:cs typeface="Corben" pitchFamily="34" charset="-120"/>
              </a:rPr>
              <a:t>69%</a:t>
            </a:r>
            <a:endParaRPr lang="en-US" sz="4350" dirty="0"/>
          </a:p>
        </p:txBody>
      </p:sp>
      <p:sp>
        <p:nvSpPr>
          <p:cNvPr id="5" name="Text 2"/>
          <p:cNvSpPr/>
          <p:nvPr/>
        </p:nvSpPr>
        <p:spPr>
          <a:xfrm>
            <a:off x="1471136" y="5452110"/>
            <a:ext cx="2793921" cy="349210"/>
          </a:xfrm>
          <a:prstGeom prst="rect">
            <a:avLst/>
          </a:prstGeom>
          <a:noFill/>
          <a:ln/>
        </p:spPr>
        <p:txBody>
          <a:bodyPr wrap="none" lIns="0" tIns="0" rIns="0" bIns="0" rtlCol="0" anchor="t"/>
          <a:lstStyle/>
          <a:p>
            <a:pPr marL="0" indent="0" algn="ctr">
              <a:lnSpc>
                <a:spcPts val="2700"/>
              </a:lnSpc>
              <a:buNone/>
            </a:pPr>
            <a:r>
              <a:rPr lang="en-US" sz="2150" dirty="0">
                <a:solidFill>
                  <a:srgbClr val="404155"/>
                </a:solidFill>
                <a:latin typeface="Corben" pitchFamily="34" charset="0"/>
                <a:ea typeface="Corben" pitchFamily="34" charset="-122"/>
                <a:cs typeface="Corben" pitchFamily="34" charset="-120"/>
              </a:rPr>
              <a:t>Export Growth</a:t>
            </a:r>
            <a:endParaRPr lang="en-US" sz="2150" dirty="0"/>
          </a:p>
        </p:txBody>
      </p:sp>
      <p:sp>
        <p:nvSpPr>
          <p:cNvPr id="6" name="Text 3"/>
          <p:cNvSpPr/>
          <p:nvPr/>
        </p:nvSpPr>
        <p:spPr>
          <a:xfrm>
            <a:off x="782241" y="5933361"/>
            <a:ext cx="4171712" cy="354925"/>
          </a:xfrm>
          <a:prstGeom prst="rect">
            <a:avLst/>
          </a:prstGeom>
          <a:noFill/>
          <a:ln/>
        </p:spPr>
        <p:txBody>
          <a:bodyPr wrap="none" lIns="0" tIns="0" rIns="0" bIns="0" rtlCol="0" anchor="t"/>
          <a:lstStyle/>
          <a:p>
            <a:pPr marL="0" indent="0" algn="ctr">
              <a:lnSpc>
                <a:spcPts val="2750"/>
              </a:lnSpc>
              <a:buNone/>
            </a:pPr>
            <a:r>
              <a:rPr lang="en-US" sz="1750" dirty="0">
                <a:solidFill>
                  <a:srgbClr val="404155"/>
                </a:solidFill>
                <a:latin typeface="Nobile" pitchFamily="34" charset="0"/>
                <a:ea typeface="Nobile" pitchFamily="34" charset="-122"/>
                <a:cs typeface="Nobile" pitchFamily="34" charset="-120"/>
              </a:rPr>
              <a:t>2010-2021 increase</a:t>
            </a:r>
            <a:endParaRPr lang="en-US" sz="1750" dirty="0"/>
          </a:p>
        </p:txBody>
      </p:sp>
      <p:sp>
        <p:nvSpPr>
          <p:cNvPr id="7" name="Text 4"/>
          <p:cNvSpPr/>
          <p:nvPr/>
        </p:nvSpPr>
        <p:spPr>
          <a:xfrm>
            <a:off x="5940504" y="3220283"/>
            <a:ext cx="2749153" cy="558760"/>
          </a:xfrm>
          <a:prstGeom prst="rect">
            <a:avLst/>
          </a:prstGeom>
          <a:noFill/>
          <a:ln/>
        </p:spPr>
        <p:txBody>
          <a:bodyPr wrap="none" lIns="0" tIns="0" rIns="0" bIns="0" rtlCol="0" anchor="t"/>
          <a:lstStyle/>
          <a:p>
            <a:pPr marL="0" indent="0" algn="ctr">
              <a:lnSpc>
                <a:spcPts val="4350"/>
              </a:lnSpc>
              <a:buNone/>
            </a:pPr>
            <a:r>
              <a:rPr lang="en-US" sz="4350" dirty="0">
                <a:solidFill>
                  <a:srgbClr val="404155"/>
                </a:solidFill>
                <a:latin typeface="Corben" pitchFamily="34" charset="0"/>
                <a:ea typeface="Corben" pitchFamily="34" charset="-122"/>
                <a:cs typeface="Corben" pitchFamily="34" charset="-120"/>
              </a:rPr>
              <a:t>66%</a:t>
            </a:r>
            <a:endParaRPr lang="en-US" sz="4350" dirty="0"/>
          </a:p>
        </p:txBody>
      </p:sp>
      <p:pic>
        <p:nvPicPr>
          <p:cNvPr id="8" name="Image 1" descr="preencoded.png"/>
          <p:cNvPicPr>
            <a:picLocks noChangeAspect="1"/>
          </p:cNvPicPr>
          <p:nvPr/>
        </p:nvPicPr>
        <p:blipFill>
          <a:blip r:embed="rId3"/>
          <a:stretch>
            <a:fillRect/>
          </a:stretch>
        </p:blipFill>
        <p:spPr>
          <a:xfrm>
            <a:off x="5528730" y="1823442"/>
            <a:ext cx="3352681" cy="3352681"/>
          </a:xfrm>
          <a:prstGeom prst="rect">
            <a:avLst/>
          </a:prstGeom>
        </p:spPr>
      </p:pic>
      <p:sp>
        <p:nvSpPr>
          <p:cNvPr id="9" name="Text 5"/>
          <p:cNvSpPr/>
          <p:nvPr/>
        </p:nvSpPr>
        <p:spPr>
          <a:xfrm>
            <a:off x="5918121" y="5452110"/>
            <a:ext cx="2793921" cy="349210"/>
          </a:xfrm>
          <a:prstGeom prst="rect">
            <a:avLst/>
          </a:prstGeom>
          <a:noFill/>
          <a:ln/>
        </p:spPr>
        <p:txBody>
          <a:bodyPr wrap="none" lIns="0" tIns="0" rIns="0" bIns="0" rtlCol="0" anchor="t"/>
          <a:lstStyle/>
          <a:p>
            <a:pPr marL="0" indent="0" algn="ctr">
              <a:lnSpc>
                <a:spcPts val="2700"/>
              </a:lnSpc>
              <a:buNone/>
            </a:pPr>
            <a:r>
              <a:rPr lang="en-US" sz="2150" dirty="0">
                <a:solidFill>
                  <a:srgbClr val="404155"/>
                </a:solidFill>
                <a:latin typeface="Corben" pitchFamily="34" charset="0"/>
                <a:ea typeface="Corben" pitchFamily="34" charset="-122"/>
                <a:cs typeface="Corben" pitchFamily="34" charset="-120"/>
              </a:rPr>
              <a:t>Import Growth</a:t>
            </a:r>
            <a:endParaRPr lang="en-US" sz="2150" dirty="0"/>
          </a:p>
        </p:txBody>
      </p:sp>
      <p:sp>
        <p:nvSpPr>
          <p:cNvPr id="10" name="Text 6"/>
          <p:cNvSpPr/>
          <p:nvPr/>
        </p:nvSpPr>
        <p:spPr>
          <a:xfrm>
            <a:off x="5229225" y="5933361"/>
            <a:ext cx="4171831" cy="354925"/>
          </a:xfrm>
          <a:prstGeom prst="rect">
            <a:avLst/>
          </a:prstGeom>
          <a:noFill/>
          <a:ln/>
        </p:spPr>
        <p:txBody>
          <a:bodyPr wrap="none" lIns="0" tIns="0" rIns="0" bIns="0" rtlCol="0" anchor="t"/>
          <a:lstStyle/>
          <a:p>
            <a:pPr marL="0" indent="0" algn="ctr">
              <a:lnSpc>
                <a:spcPts val="2750"/>
              </a:lnSpc>
              <a:buNone/>
            </a:pPr>
            <a:r>
              <a:rPr lang="en-US" sz="1750" dirty="0">
                <a:solidFill>
                  <a:srgbClr val="404155"/>
                </a:solidFill>
                <a:latin typeface="Nobile" pitchFamily="34" charset="0"/>
                <a:ea typeface="Nobile" pitchFamily="34" charset="-122"/>
                <a:cs typeface="Nobile" pitchFamily="34" charset="-120"/>
              </a:rPr>
              <a:t>2010-2021 increase</a:t>
            </a:r>
            <a:endParaRPr lang="en-US" sz="1750" dirty="0"/>
          </a:p>
        </p:txBody>
      </p:sp>
      <p:sp>
        <p:nvSpPr>
          <p:cNvPr id="11" name="Text 7"/>
          <p:cNvSpPr/>
          <p:nvPr/>
        </p:nvSpPr>
        <p:spPr>
          <a:xfrm>
            <a:off x="10387489" y="3220283"/>
            <a:ext cx="2749153" cy="558760"/>
          </a:xfrm>
          <a:prstGeom prst="rect">
            <a:avLst/>
          </a:prstGeom>
          <a:noFill/>
          <a:ln/>
        </p:spPr>
        <p:txBody>
          <a:bodyPr wrap="none" lIns="0" tIns="0" rIns="0" bIns="0" rtlCol="0" anchor="t"/>
          <a:lstStyle/>
          <a:p>
            <a:pPr marL="0" indent="0" algn="ctr">
              <a:lnSpc>
                <a:spcPts val="4350"/>
              </a:lnSpc>
              <a:buNone/>
            </a:pPr>
            <a:r>
              <a:rPr lang="en-US" sz="4350" dirty="0">
                <a:solidFill>
                  <a:srgbClr val="404155"/>
                </a:solidFill>
                <a:latin typeface="Corben" pitchFamily="34" charset="0"/>
                <a:ea typeface="Corben" pitchFamily="34" charset="-122"/>
                <a:cs typeface="Corben" pitchFamily="34" charset="-120"/>
              </a:rPr>
              <a:t>59%</a:t>
            </a:r>
            <a:endParaRPr lang="en-US" sz="4350" dirty="0"/>
          </a:p>
        </p:txBody>
      </p:sp>
      <p:pic>
        <p:nvPicPr>
          <p:cNvPr id="12" name="Image 2" descr="preencoded.png"/>
          <p:cNvPicPr>
            <a:picLocks noChangeAspect="1"/>
          </p:cNvPicPr>
          <p:nvPr/>
        </p:nvPicPr>
        <p:blipFill>
          <a:blip r:embed="rId4"/>
          <a:stretch>
            <a:fillRect/>
          </a:stretch>
        </p:blipFill>
        <p:spPr>
          <a:xfrm>
            <a:off x="9950494" y="1781163"/>
            <a:ext cx="3352681" cy="3352681"/>
          </a:xfrm>
          <a:prstGeom prst="rect">
            <a:avLst/>
          </a:prstGeom>
        </p:spPr>
      </p:pic>
      <p:sp>
        <p:nvSpPr>
          <p:cNvPr id="13" name="Text 8"/>
          <p:cNvSpPr/>
          <p:nvPr/>
        </p:nvSpPr>
        <p:spPr>
          <a:xfrm>
            <a:off x="10365224" y="5452110"/>
            <a:ext cx="2793921" cy="349210"/>
          </a:xfrm>
          <a:prstGeom prst="rect">
            <a:avLst/>
          </a:prstGeom>
          <a:noFill/>
          <a:ln/>
        </p:spPr>
        <p:txBody>
          <a:bodyPr wrap="none" lIns="0" tIns="0" rIns="0" bIns="0" rtlCol="0" anchor="t"/>
          <a:lstStyle/>
          <a:p>
            <a:pPr marL="0" indent="0" algn="ctr">
              <a:lnSpc>
                <a:spcPts val="2700"/>
              </a:lnSpc>
              <a:buNone/>
            </a:pPr>
            <a:r>
              <a:rPr lang="en-US" sz="2150" dirty="0">
                <a:solidFill>
                  <a:srgbClr val="404155"/>
                </a:solidFill>
                <a:latin typeface="Corben" pitchFamily="34" charset="0"/>
                <a:ea typeface="Corben" pitchFamily="34" charset="-122"/>
                <a:cs typeface="Corben" pitchFamily="34" charset="-120"/>
              </a:rPr>
              <a:t>Deficit Growth</a:t>
            </a:r>
            <a:endParaRPr lang="en-US" sz="2150" dirty="0"/>
          </a:p>
        </p:txBody>
      </p:sp>
      <p:sp>
        <p:nvSpPr>
          <p:cNvPr id="14" name="Text 9"/>
          <p:cNvSpPr/>
          <p:nvPr/>
        </p:nvSpPr>
        <p:spPr>
          <a:xfrm>
            <a:off x="9676328" y="5933361"/>
            <a:ext cx="4171712" cy="354925"/>
          </a:xfrm>
          <a:prstGeom prst="rect">
            <a:avLst/>
          </a:prstGeom>
          <a:noFill/>
          <a:ln/>
        </p:spPr>
        <p:txBody>
          <a:bodyPr wrap="none" lIns="0" tIns="0" rIns="0" bIns="0" rtlCol="0" anchor="t"/>
          <a:lstStyle/>
          <a:p>
            <a:pPr marL="0" indent="0" algn="ctr">
              <a:lnSpc>
                <a:spcPts val="2750"/>
              </a:lnSpc>
              <a:buNone/>
            </a:pPr>
            <a:r>
              <a:rPr lang="en-US" sz="1750" dirty="0">
                <a:solidFill>
                  <a:srgbClr val="404155"/>
                </a:solidFill>
                <a:latin typeface="Nobile" pitchFamily="34" charset="0"/>
                <a:ea typeface="Nobile" pitchFamily="34" charset="-122"/>
                <a:cs typeface="Nobile" pitchFamily="34" charset="-120"/>
              </a:rPr>
              <a:t>Gap widened proportionally</a:t>
            </a:r>
            <a:endParaRPr lang="en-US" sz="1750" dirty="0"/>
          </a:p>
        </p:txBody>
      </p:sp>
      <p:sp>
        <p:nvSpPr>
          <p:cNvPr id="15" name="Text 10"/>
          <p:cNvSpPr/>
          <p:nvPr/>
        </p:nvSpPr>
        <p:spPr>
          <a:xfrm>
            <a:off x="782241" y="6536055"/>
            <a:ext cx="13065919" cy="1064776"/>
          </a:xfrm>
          <a:prstGeom prst="rect">
            <a:avLst/>
          </a:prstGeom>
          <a:noFill/>
          <a:ln/>
        </p:spPr>
        <p:txBody>
          <a:bodyPr wrap="square" lIns="0" tIns="0" rIns="0" bIns="0" rtlCol="0" anchor="t"/>
          <a:lstStyle/>
          <a:p>
            <a:pPr marL="0" indent="0" algn="l">
              <a:lnSpc>
                <a:spcPts val="2750"/>
              </a:lnSpc>
              <a:buNone/>
            </a:pPr>
            <a:r>
              <a:rPr lang="en-US" sz="1750" dirty="0">
                <a:solidFill>
                  <a:srgbClr val="404155"/>
                </a:solidFill>
                <a:latin typeface="Nobile" pitchFamily="34" charset="0"/>
                <a:ea typeface="Nobile" pitchFamily="34" charset="-122"/>
                <a:cs typeface="Nobile" pitchFamily="34" charset="-120"/>
              </a:rPr>
              <a:t>By 2021, India established itself as a major trading nation with $394.8 billion in exports and $570.4 billion in imports. While the trade deficit remained a challenge, the foundation was set for continued growth and diversification into the next decade.</a:t>
            </a:r>
            <a:endParaRPr lang="en-US" sz="1750" dirty="0"/>
          </a:p>
        </p:txBody>
      </p:sp>
      <p:sp>
        <p:nvSpPr>
          <p:cNvPr id="16" name="Rectangle 15">
            <a:extLst>
              <a:ext uri="{FF2B5EF4-FFF2-40B4-BE49-F238E27FC236}">
                <a16:creationId xmlns:a16="http://schemas.microsoft.com/office/drawing/2014/main" id="{F69C3504-FD02-4A09-AF61-BD5039824DAA}"/>
              </a:ext>
            </a:extLst>
          </p:cNvPr>
          <p:cNvSpPr/>
          <p:nvPr/>
        </p:nvSpPr>
        <p:spPr>
          <a:xfrm>
            <a:off x="12654455" y="7620000"/>
            <a:ext cx="1891862" cy="515007"/>
          </a:xfrm>
          <a:prstGeom prst="rect">
            <a:avLst/>
          </a:prstGeom>
          <a:solidFill>
            <a:srgbClr val="F9F9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7" name="Image 1" descr="preencoded.png">
            <a:extLst>
              <a:ext uri="{FF2B5EF4-FFF2-40B4-BE49-F238E27FC236}">
                <a16:creationId xmlns:a16="http://schemas.microsoft.com/office/drawing/2014/main" id="{96CF0B2E-74AD-4859-B9BA-61050AAF34A4}"/>
              </a:ext>
            </a:extLst>
          </p:cNvPr>
          <p:cNvPicPr>
            <a:picLocks noChangeAspect="1"/>
          </p:cNvPicPr>
          <p:nvPr/>
        </p:nvPicPr>
        <p:blipFill>
          <a:blip r:embed="rId3"/>
          <a:stretch>
            <a:fillRect/>
          </a:stretch>
        </p:blipFill>
        <p:spPr>
          <a:xfrm>
            <a:off x="1106966" y="1820533"/>
            <a:ext cx="3352681" cy="3352681"/>
          </a:xfrm>
          <a:prstGeom prst="rect">
            <a:avLst/>
          </a:prstGeom>
        </p:spPr>
      </p:pic>
      <p:sp>
        <p:nvSpPr>
          <p:cNvPr id="18" name="Block Arc 17">
            <a:extLst>
              <a:ext uri="{FF2B5EF4-FFF2-40B4-BE49-F238E27FC236}">
                <a16:creationId xmlns:a16="http://schemas.microsoft.com/office/drawing/2014/main" id="{BD5765C9-C3B8-4BF1-8249-0B821EDD9470}"/>
              </a:ext>
            </a:extLst>
          </p:cNvPr>
          <p:cNvSpPr/>
          <p:nvPr/>
        </p:nvSpPr>
        <p:spPr>
          <a:xfrm rot="7049514">
            <a:off x="9959224" y="1790123"/>
            <a:ext cx="3352681" cy="3331758"/>
          </a:xfrm>
          <a:prstGeom prst="blockArc">
            <a:avLst>
              <a:gd name="adj1" fmla="val 9069636"/>
              <a:gd name="adj2" fmla="val 1"/>
              <a:gd name="adj3" fmla="val 8646"/>
            </a:avLst>
          </a:prstGeom>
          <a:solidFill>
            <a:srgbClr val="4967E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4967E9"/>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heel(1)">
                                      <p:cBhvr>
                                        <p:cTn id="12" dur="20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heel(1)">
                                      <p:cBhvr>
                                        <p:cTn id="17"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014055"/>
            <a:ext cx="9800868" cy="708779"/>
          </a:xfrm>
          <a:prstGeom prst="rect">
            <a:avLst/>
          </a:prstGeom>
          <a:noFill/>
          <a:ln/>
        </p:spPr>
        <p:txBody>
          <a:bodyPr wrap="none" lIns="0" tIns="0" rIns="0" bIns="0" rtlCol="0" anchor="t"/>
          <a:lstStyle/>
          <a:p>
            <a:pPr marL="0" indent="0" algn="l">
              <a:lnSpc>
                <a:spcPts val="5550"/>
              </a:lnSpc>
              <a:buNone/>
            </a:pPr>
            <a:r>
              <a:rPr lang="en-US" sz="4450" dirty="0">
                <a:solidFill>
                  <a:srgbClr val="1B1B27"/>
                </a:solidFill>
                <a:latin typeface="Corben" pitchFamily="34" charset="0"/>
                <a:ea typeface="Corben" pitchFamily="34" charset="-122"/>
                <a:cs typeface="Corben" pitchFamily="34" charset="-120"/>
              </a:rPr>
              <a:t>The Road Ahead: India's Trade Future</a:t>
            </a:r>
            <a:endParaRPr lang="en-US" sz="4450" dirty="0"/>
          </a:p>
        </p:txBody>
      </p:sp>
      <p:sp>
        <p:nvSpPr>
          <p:cNvPr id="3" name="Text 1"/>
          <p:cNvSpPr/>
          <p:nvPr/>
        </p:nvSpPr>
        <p:spPr>
          <a:xfrm>
            <a:off x="793790" y="217646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04155"/>
                </a:solidFill>
                <a:latin typeface="Corben Light" pitchFamily="34" charset="0"/>
                <a:ea typeface="Corben Light" pitchFamily="34" charset="-122"/>
                <a:cs typeface="Corben Light" pitchFamily="34" charset="-120"/>
              </a:rPr>
              <a:t>01</a:t>
            </a:r>
            <a:endParaRPr lang="en-US" sz="1750" dirty="0"/>
          </a:p>
        </p:txBody>
      </p:sp>
      <p:sp>
        <p:nvSpPr>
          <p:cNvPr id="4" name="Shape 2"/>
          <p:cNvSpPr/>
          <p:nvPr/>
        </p:nvSpPr>
        <p:spPr>
          <a:xfrm>
            <a:off x="793790" y="2531507"/>
            <a:ext cx="6407944" cy="30480"/>
          </a:xfrm>
          <a:prstGeom prst="rect">
            <a:avLst/>
          </a:prstGeom>
          <a:solidFill>
            <a:srgbClr val="4967E9"/>
          </a:solidFill>
          <a:ln/>
        </p:spPr>
      </p:sp>
      <p:sp>
        <p:nvSpPr>
          <p:cNvPr id="5" name="Text 3"/>
          <p:cNvSpPr/>
          <p:nvPr/>
        </p:nvSpPr>
        <p:spPr>
          <a:xfrm>
            <a:off x="793790" y="2705814"/>
            <a:ext cx="3187422"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Diversification Strategy</a:t>
            </a:r>
            <a:endParaRPr lang="en-US" sz="2200" dirty="0"/>
          </a:p>
        </p:txBody>
      </p:sp>
      <p:sp>
        <p:nvSpPr>
          <p:cNvPr id="6" name="Text 4"/>
          <p:cNvSpPr/>
          <p:nvPr/>
        </p:nvSpPr>
        <p:spPr>
          <a:xfrm>
            <a:off x="793790" y="3196233"/>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Expand beyond traditional sectors into electronics, defense, and renewable energy equipment</a:t>
            </a:r>
            <a:endParaRPr lang="en-US" sz="1750" dirty="0"/>
          </a:p>
        </p:txBody>
      </p:sp>
      <p:sp>
        <p:nvSpPr>
          <p:cNvPr id="7" name="Text 5"/>
          <p:cNvSpPr/>
          <p:nvPr/>
        </p:nvSpPr>
        <p:spPr>
          <a:xfrm>
            <a:off x="7428548" y="217646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04155"/>
                </a:solidFill>
                <a:latin typeface="Corben Light" pitchFamily="34" charset="0"/>
                <a:ea typeface="Corben Light" pitchFamily="34" charset="-122"/>
                <a:cs typeface="Corben Light" pitchFamily="34" charset="-120"/>
              </a:rPr>
              <a:t>02</a:t>
            </a:r>
            <a:endParaRPr lang="en-US" sz="1750" dirty="0"/>
          </a:p>
        </p:txBody>
      </p:sp>
      <p:sp>
        <p:nvSpPr>
          <p:cNvPr id="8" name="Shape 6"/>
          <p:cNvSpPr/>
          <p:nvPr/>
        </p:nvSpPr>
        <p:spPr>
          <a:xfrm>
            <a:off x="7428548" y="2531507"/>
            <a:ext cx="6408063" cy="30480"/>
          </a:xfrm>
          <a:prstGeom prst="rect">
            <a:avLst/>
          </a:prstGeom>
          <a:solidFill>
            <a:srgbClr val="4967E9"/>
          </a:solidFill>
          <a:ln/>
        </p:spPr>
      </p:sp>
      <p:sp>
        <p:nvSpPr>
          <p:cNvPr id="9" name="Text 7"/>
          <p:cNvSpPr/>
          <p:nvPr/>
        </p:nvSpPr>
        <p:spPr>
          <a:xfrm>
            <a:off x="7428548" y="270581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Trade Agreements</a:t>
            </a:r>
            <a:endParaRPr lang="en-US" sz="2200" dirty="0"/>
          </a:p>
        </p:txBody>
      </p:sp>
      <p:sp>
        <p:nvSpPr>
          <p:cNvPr id="10" name="Text 8"/>
          <p:cNvSpPr/>
          <p:nvPr/>
        </p:nvSpPr>
        <p:spPr>
          <a:xfrm>
            <a:off x="7428548" y="3196233"/>
            <a:ext cx="6408063" cy="725805"/>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Negotiate bilateral and multilateral agreements to reduce tariffs and barriers</a:t>
            </a:r>
            <a:endParaRPr lang="en-US" sz="1750" dirty="0"/>
          </a:p>
        </p:txBody>
      </p:sp>
      <p:sp>
        <p:nvSpPr>
          <p:cNvPr id="11" name="Text 9"/>
          <p:cNvSpPr/>
          <p:nvPr/>
        </p:nvSpPr>
        <p:spPr>
          <a:xfrm>
            <a:off x="793790" y="431887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04155"/>
                </a:solidFill>
                <a:latin typeface="Corben Light" pitchFamily="34" charset="0"/>
                <a:ea typeface="Corben Light" pitchFamily="34" charset="-122"/>
                <a:cs typeface="Corben Light" pitchFamily="34" charset="-120"/>
              </a:rPr>
              <a:t>03</a:t>
            </a:r>
            <a:endParaRPr lang="en-US" sz="1750" dirty="0"/>
          </a:p>
        </p:txBody>
      </p:sp>
      <p:sp>
        <p:nvSpPr>
          <p:cNvPr id="12" name="Shape 10"/>
          <p:cNvSpPr/>
          <p:nvPr/>
        </p:nvSpPr>
        <p:spPr>
          <a:xfrm>
            <a:off x="793790" y="4673918"/>
            <a:ext cx="6407944" cy="30480"/>
          </a:xfrm>
          <a:prstGeom prst="rect">
            <a:avLst/>
          </a:prstGeom>
          <a:solidFill>
            <a:srgbClr val="4967E9"/>
          </a:solidFill>
          <a:ln/>
        </p:spPr>
      </p:sp>
      <p:sp>
        <p:nvSpPr>
          <p:cNvPr id="13" name="Text 11"/>
          <p:cNvSpPr/>
          <p:nvPr/>
        </p:nvSpPr>
        <p:spPr>
          <a:xfrm>
            <a:off x="793790" y="484822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Manufacturing Push</a:t>
            </a:r>
            <a:endParaRPr lang="en-US" sz="2200" dirty="0"/>
          </a:p>
        </p:txBody>
      </p:sp>
      <p:sp>
        <p:nvSpPr>
          <p:cNvPr id="14" name="Text 12"/>
          <p:cNvSpPr/>
          <p:nvPr/>
        </p:nvSpPr>
        <p:spPr>
          <a:xfrm>
            <a:off x="793790" y="5338643"/>
            <a:ext cx="6407944" cy="725805"/>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Production-linked incentives and "Make in India" initiatives to boost exports</a:t>
            </a:r>
            <a:endParaRPr lang="en-US" sz="1750" dirty="0"/>
          </a:p>
        </p:txBody>
      </p:sp>
      <p:sp>
        <p:nvSpPr>
          <p:cNvPr id="15" name="Text 13"/>
          <p:cNvSpPr/>
          <p:nvPr/>
        </p:nvSpPr>
        <p:spPr>
          <a:xfrm>
            <a:off x="7428548" y="431887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404155"/>
                </a:solidFill>
                <a:latin typeface="Corben Light" pitchFamily="34" charset="0"/>
                <a:ea typeface="Corben Light" pitchFamily="34" charset="-122"/>
                <a:cs typeface="Corben Light" pitchFamily="34" charset="-120"/>
              </a:rPr>
              <a:t>04</a:t>
            </a:r>
            <a:endParaRPr lang="en-US" sz="1750" dirty="0"/>
          </a:p>
        </p:txBody>
      </p:sp>
      <p:sp>
        <p:nvSpPr>
          <p:cNvPr id="16" name="Shape 14"/>
          <p:cNvSpPr/>
          <p:nvPr/>
        </p:nvSpPr>
        <p:spPr>
          <a:xfrm>
            <a:off x="7428548" y="4673918"/>
            <a:ext cx="6408063" cy="30480"/>
          </a:xfrm>
          <a:prstGeom prst="rect">
            <a:avLst/>
          </a:prstGeom>
          <a:solidFill>
            <a:srgbClr val="4967E9"/>
          </a:solidFill>
          <a:ln/>
        </p:spPr>
      </p:sp>
      <p:sp>
        <p:nvSpPr>
          <p:cNvPr id="17" name="Text 15"/>
          <p:cNvSpPr/>
          <p:nvPr/>
        </p:nvSpPr>
        <p:spPr>
          <a:xfrm>
            <a:off x="7428548" y="484822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4155"/>
                </a:solidFill>
                <a:latin typeface="Corben" pitchFamily="34" charset="0"/>
                <a:ea typeface="Corben" pitchFamily="34" charset="-122"/>
                <a:cs typeface="Corben" pitchFamily="34" charset="-120"/>
              </a:rPr>
              <a:t>Digital Integration</a:t>
            </a:r>
            <a:endParaRPr lang="en-US" sz="2200" dirty="0"/>
          </a:p>
        </p:txBody>
      </p:sp>
      <p:sp>
        <p:nvSpPr>
          <p:cNvPr id="18" name="Text 16"/>
          <p:cNvSpPr/>
          <p:nvPr/>
        </p:nvSpPr>
        <p:spPr>
          <a:xfrm>
            <a:off x="7428548" y="5338643"/>
            <a:ext cx="6408063" cy="725805"/>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Leverage IT and digital services as competitive advantage in global marketplace</a:t>
            </a:r>
            <a:endParaRPr lang="en-US" sz="1750" dirty="0"/>
          </a:p>
        </p:txBody>
      </p:sp>
      <p:sp>
        <p:nvSpPr>
          <p:cNvPr id="19" name="Text 17"/>
          <p:cNvSpPr/>
          <p:nvPr/>
        </p:nvSpPr>
        <p:spPr>
          <a:xfrm>
            <a:off x="793790" y="6489621"/>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404155"/>
                </a:solidFill>
                <a:latin typeface="Nobile" pitchFamily="34" charset="0"/>
                <a:ea typeface="Nobile" pitchFamily="34" charset="-122"/>
                <a:cs typeface="Nobile" pitchFamily="34" charset="-120"/>
              </a:rPr>
              <a:t>The 2010-2021 period demonstrated India's resilience and adaptability in global trade. With strategic focus on value-added exports and reducing import dependency, India is positioned for continued integration into the global economy.</a:t>
            </a:r>
            <a:endParaRPr lang="en-US" sz="1750" dirty="0"/>
          </a:p>
        </p:txBody>
      </p:sp>
      <p:sp>
        <p:nvSpPr>
          <p:cNvPr id="20" name="Rectangle 19">
            <a:extLst>
              <a:ext uri="{FF2B5EF4-FFF2-40B4-BE49-F238E27FC236}">
                <a16:creationId xmlns:a16="http://schemas.microsoft.com/office/drawing/2014/main" id="{A51B5C70-A164-412A-90A1-47DF378C96A0}"/>
              </a:ext>
            </a:extLst>
          </p:cNvPr>
          <p:cNvSpPr/>
          <p:nvPr/>
        </p:nvSpPr>
        <p:spPr>
          <a:xfrm>
            <a:off x="12654455" y="7620000"/>
            <a:ext cx="1891862" cy="515007"/>
          </a:xfrm>
          <a:prstGeom prst="rect">
            <a:avLst/>
          </a:prstGeom>
          <a:solidFill>
            <a:srgbClr val="F9F9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40498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2178</TotalTime>
  <Words>1051</Words>
  <Application>Microsoft Office PowerPoint</Application>
  <PresentationFormat>Custom</PresentationFormat>
  <Paragraphs>118</Paragraphs>
  <Slides>13</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Poppins</vt:lpstr>
      <vt:lpstr>Calibri</vt:lpstr>
      <vt:lpstr>Arial</vt:lpstr>
      <vt:lpstr>Nobile</vt:lpstr>
      <vt:lpstr>Corben</vt:lpstr>
      <vt:lpstr>Corben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Lenovo</dc:creator>
  <cp:lastModifiedBy>Lenovo</cp:lastModifiedBy>
  <cp:revision>15</cp:revision>
  <dcterms:created xsi:type="dcterms:W3CDTF">2026-03-23T04:17:11Z</dcterms:created>
  <dcterms:modified xsi:type="dcterms:W3CDTF">2026-04-22T16:25:06Z</dcterms:modified>
</cp:coreProperties>
</file>